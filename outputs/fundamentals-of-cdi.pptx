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2809c691c54b7a" /><Relationship Type="http://schemas.openxmlformats.org/officeDocument/2006/relationships/extended-properties" Target="/docProps/app.xml" Id="R0eacaade504c439a" /><Relationship Type="http://schemas.openxmlformats.org/officeDocument/2006/relationships/officeDocument" Target="/ppt/presentation.xml" Id="Rf5eec1611f6543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45e524311a4c0d"/>
  </p:sldMasterIdLst>
  <p:notesMasterIdLst>
    <p:notesMasterId xmlns:r="http://schemas.openxmlformats.org/officeDocument/2006/relationships" r:id="Re3fbc5d8456b4913"/>
  </p:notesMasterIdLst>
  <p:sldIdLst>
    <p:sldId xmlns:r="http://schemas.openxmlformats.org/officeDocument/2006/relationships" id="256" r:id="R9f461980a7ba4b79"/>
    <p:sldId xmlns:r="http://schemas.openxmlformats.org/officeDocument/2006/relationships" id="257" r:id="Rf71ad5ea37f04492"/>
    <p:sldId xmlns:r="http://schemas.openxmlformats.org/officeDocument/2006/relationships" id="258" r:id="Rc4b1977ac98045b7"/>
    <p:sldId xmlns:r="http://schemas.openxmlformats.org/officeDocument/2006/relationships" id="259" r:id="R370b1f4c84e249ca"/>
    <p:sldId xmlns:r="http://schemas.openxmlformats.org/officeDocument/2006/relationships" id="260" r:id="R8d4914feb1624aac"/>
    <p:sldId xmlns:r="http://schemas.openxmlformats.org/officeDocument/2006/relationships" id="261" r:id="R2503b48d68474bf6"/>
    <p:sldId xmlns:r="http://schemas.openxmlformats.org/officeDocument/2006/relationships" id="262" r:id="R023696157696408d"/>
    <p:sldId xmlns:r="http://schemas.openxmlformats.org/officeDocument/2006/relationships" id="263" r:id="Rc9406fddd3fb4770"/>
    <p:sldId xmlns:r="http://schemas.openxmlformats.org/officeDocument/2006/relationships" id="264" r:id="R05cea4bc6b5c4e03"/>
    <p:sldId xmlns:r="http://schemas.openxmlformats.org/officeDocument/2006/relationships" id="265" r:id="Rc2ed728c78574ee1"/>
    <p:sldId xmlns:r="http://schemas.openxmlformats.org/officeDocument/2006/relationships" id="266" r:id="R163434db86704844"/>
    <p:sldId xmlns:r="http://schemas.openxmlformats.org/officeDocument/2006/relationships" id="267" r:id="R3886f3cb061f4814"/>
    <p:sldId xmlns:r="http://schemas.openxmlformats.org/officeDocument/2006/relationships" id="268" r:id="R49348f6ac11944a7"/>
    <p:sldId xmlns:r="http://schemas.openxmlformats.org/officeDocument/2006/relationships" id="269" r:id="R57fead6e307e47a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0842e786d84d3f" /><Relationship Type="http://schemas.openxmlformats.org/officeDocument/2006/relationships/slideMaster" Target="/ppt/slideMasters/slideMaster1.xml" Id="R3645e524311a4c0d" /><Relationship Type="http://schemas.openxmlformats.org/officeDocument/2006/relationships/notesMaster" Target="/ppt/notesMasters/notesMaster1.xml" Id="Re3fbc5d8456b4913" /><Relationship Type="http://schemas.openxmlformats.org/officeDocument/2006/relationships/presProps" Target="/ppt/presProps.xml" Id="Ra84f2f39f3e647f8" /><Relationship Type="http://schemas.openxmlformats.org/officeDocument/2006/relationships/tableStyles" Target="/ppt/tableStyles.xml" Id="Ra1b6d4fc49bb4820" /><Relationship Type="http://schemas.openxmlformats.org/officeDocument/2006/relationships/slide" Target="/ppt/slides/slide1.xml" Id="R9f461980a7ba4b79" /><Relationship Type="http://schemas.openxmlformats.org/officeDocument/2006/relationships/slide" Target="/ppt/slides/slide2.xml" Id="Rf71ad5ea37f04492" /><Relationship Type="http://schemas.openxmlformats.org/officeDocument/2006/relationships/slide" Target="/ppt/slides/slide3.xml" Id="Rc4b1977ac98045b7" /><Relationship Type="http://schemas.openxmlformats.org/officeDocument/2006/relationships/slide" Target="/ppt/slides/slide4.xml" Id="R370b1f4c84e249ca" /><Relationship Type="http://schemas.openxmlformats.org/officeDocument/2006/relationships/slide" Target="/ppt/slides/slide5.xml" Id="R8d4914feb1624aac" /><Relationship Type="http://schemas.openxmlformats.org/officeDocument/2006/relationships/slide" Target="/ppt/slides/slide6.xml" Id="R2503b48d68474bf6" /><Relationship Type="http://schemas.openxmlformats.org/officeDocument/2006/relationships/slide" Target="/ppt/slides/slide7.xml" Id="R023696157696408d" /><Relationship Type="http://schemas.openxmlformats.org/officeDocument/2006/relationships/slide" Target="/ppt/slides/slide8.xml" Id="Rc9406fddd3fb4770" /><Relationship Type="http://schemas.openxmlformats.org/officeDocument/2006/relationships/slide" Target="/ppt/slides/slide9.xml" Id="R05cea4bc6b5c4e03" /><Relationship Type="http://schemas.openxmlformats.org/officeDocument/2006/relationships/slide" Target="/ppt/slides/slide10.xml" Id="Rc2ed728c78574ee1" /><Relationship Type="http://schemas.openxmlformats.org/officeDocument/2006/relationships/slide" Target="/ppt/slides/slide11.xml" Id="R163434db86704844" /><Relationship Type="http://schemas.openxmlformats.org/officeDocument/2006/relationships/slide" Target="/ppt/slides/slide12.xml" Id="R3886f3cb061f4814" /><Relationship Type="http://schemas.openxmlformats.org/officeDocument/2006/relationships/slide" Target="/ppt/slides/slide13.xml" Id="R49348f6ac11944a7" /><Relationship Type="http://schemas.openxmlformats.org/officeDocument/2006/relationships/slide" Target="/ppt/slides/slide14.xml" Id="R57fead6e307e47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d8a22e015a4c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aa46fe2f7b417d" /><Relationship Type="http://schemas.openxmlformats.org/officeDocument/2006/relationships/notesMaster" Target="/ppt/notesMasters/notesMaster1.xml" Id="Rc4412ace28e248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e0bb3670ea4159" /><Relationship Type="http://schemas.openxmlformats.org/officeDocument/2006/relationships/notesMaster" Target="/ppt/notesMasters/notesMaster1.xml" Id="Rb90a6f7d9e4f46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ec68db36f348db" /><Relationship Type="http://schemas.openxmlformats.org/officeDocument/2006/relationships/notesMaster" Target="/ppt/notesMasters/notesMaster1.xml" Id="Rc85fed1aaafb45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78c39650764c53" /><Relationship Type="http://schemas.openxmlformats.org/officeDocument/2006/relationships/notesMaster" Target="/ppt/notesMasters/notesMaster1.xml" Id="Rd379b9a7d5bd4c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8927988b8847ef" /><Relationship Type="http://schemas.openxmlformats.org/officeDocument/2006/relationships/notesMaster" Target="/ppt/notesMasters/notesMaster1.xml" Id="Rbaefd937bda745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dd0f17de024a98" /><Relationship Type="http://schemas.openxmlformats.org/officeDocument/2006/relationships/notesMaster" Target="/ppt/notesMasters/notesMaster1.xml" Id="R51c87b35b08444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e1e4eb75724523" /><Relationship Type="http://schemas.openxmlformats.org/officeDocument/2006/relationships/notesMaster" Target="/ppt/notesMasters/notesMaster1.xml" Id="R6316387bc4d94b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2dc8de80a14b49" /><Relationship Type="http://schemas.openxmlformats.org/officeDocument/2006/relationships/notesMaster" Target="/ppt/notesMasters/notesMaster1.xml" Id="Rbf38126cb3ea44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9fec15fe26450c" /><Relationship Type="http://schemas.openxmlformats.org/officeDocument/2006/relationships/notesMaster" Target="/ppt/notesMasters/notesMaster1.xml" Id="Rb1bb7c2adbfc41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38413f73e94d74" /><Relationship Type="http://schemas.openxmlformats.org/officeDocument/2006/relationships/notesMaster" Target="/ppt/notesMasters/notesMaster1.xml" Id="R61cdc5ff7ab94a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d2bae4c3184cfb" /><Relationship Type="http://schemas.openxmlformats.org/officeDocument/2006/relationships/notesMaster" Target="/ppt/notesMasters/notesMaster1.xml" Id="Rde309ba7296d4c1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5405ccb87b40a8" /><Relationship Type="http://schemas.openxmlformats.org/officeDocument/2006/relationships/notesMaster" Target="/ppt/notesMasters/notesMaster1.xml" Id="R7db68dbe3fd948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12d408f91347ca" /><Relationship Type="http://schemas.openxmlformats.org/officeDocument/2006/relationships/notesMaster" Target="/ppt/notesMasters/notesMaster1.xml" Id="R44a602e8fded44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6c82a1250ad4238" /><Relationship Type="http://schemas.openxmlformats.org/officeDocument/2006/relationships/notesMaster" Target="/ppt/notesMasters/notesMaster1.xml" Id="R417da7ae2a3f44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754bb5c0a944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1a97e2fc13447a" /><Relationship Type="http://schemas.openxmlformats.org/officeDocument/2006/relationships/slideLayout" Target="/ppt/slideLayouts/slideLayout1.xml" Id="R371e2e0e958243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1e2e0e958243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6d94bc52945cc" /><Relationship Type="http://schemas.openxmlformats.org/officeDocument/2006/relationships/notesSlide" Target="/ppt/notesSlides/notesSlide1.xml" Id="R3173e6de4de340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df57f4ec54721" /><Relationship Type="http://schemas.openxmlformats.org/officeDocument/2006/relationships/notesSlide" Target="/ppt/notesSlides/notesSlide2.xml" Id="Ra722fabf3e3c4b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46fbf42ca4fb7" /><Relationship Type="http://schemas.openxmlformats.org/officeDocument/2006/relationships/notesSlide" Target="/ppt/notesSlides/notesSlide3.xml" Id="R515c9be725084e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a86db526a4764" /><Relationship Type="http://schemas.openxmlformats.org/officeDocument/2006/relationships/notesSlide" Target="/ppt/notesSlides/notesSlide4.xml" Id="R33f4487063a543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d213a1b9e4fed" /><Relationship Type="http://schemas.openxmlformats.org/officeDocument/2006/relationships/notesSlide" Target="/ppt/notesSlides/notesSlide5.xml" Id="R119526405f1746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543355c84458f" /><Relationship Type="http://schemas.openxmlformats.org/officeDocument/2006/relationships/notesSlide" Target="/ppt/notesSlides/notesSlide6.xml" Id="Ra847bdfb41db41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b5c6c82fe4f84" /><Relationship Type="http://schemas.openxmlformats.org/officeDocument/2006/relationships/notesSlide" Target="/ppt/notesSlides/notesSlide7.xml" Id="R1e3bcfefb86044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7765684de4732" /><Relationship Type="http://schemas.openxmlformats.org/officeDocument/2006/relationships/notesSlide" Target="/ppt/notesSlides/notesSlide8.xml" Id="R6f6a003c597345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662ed59f548b1" /><Relationship Type="http://schemas.openxmlformats.org/officeDocument/2006/relationships/notesSlide" Target="/ppt/notesSlides/notesSlide9.xml" Id="R00757b85a4e448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f54e2ada5409c" /><Relationship Type="http://schemas.openxmlformats.org/officeDocument/2006/relationships/notesSlide" Target="/ppt/notesSlides/notesSlide10.xml" Id="R4db1483f99fb48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8b149c3064433" /><Relationship Type="http://schemas.openxmlformats.org/officeDocument/2006/relationships/notesSlide" Target="/ppt/notesSlides/notesSlide11.xml" Id="Rcade50315ce74a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e331096a747b3" /><Relationship Type="http://schemas.openxmlformats.org/officeDocument/2006/relationships/notesSlide" Target="/ppt/notesSlides/notesSlide12.xml" Id="R5ac99b1893394b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aadae403b49e0" /><Relationship Type="http://schemas.openxmlformats.org/officeDocument/2006/relationships/notesSlide" Target="/ppt/notesSlides/notesSlide13.xml" Id="R258c327b3d7d4c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641a6a6324441" /><Relationship Type="http://schemas.openxmlformats.org/officeDocument/2006/relationships/notesSlide" Target="/ppt/notesSlides/notesSlide14.xml" Id="R02f920271f5f44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1E14E5-61C8-40B6-96C8-1B2D1625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231A6-7067-40EB-BC1E-7C43EBB9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F3EC5-9F31-4C6E-81A9-DB3EB2F2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68"/>
                </a:solidFill>
              </a:defRPr>
            </a:pPr>
            <a:r>
              <a:rPr sz="1350" b="1">
                <a:solidFill>
                  <a:srgbClr val="1F6F68"/>
                </a:solidFill>
              </a:rPr>
              <a:t>Fundamentals of CDI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B17C7-8B8D-40CA-B898-AAFFA7F7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3405E"/>
                </a:solidFill>
              </a:defRPr>
            </a:pPr>
            <a:r>
              <a:rPr sz="2850" b="1">
                <a:solidFill>
                  <a:srgbClr val="23405E"/>
                </a:solidFill>
              </a:rPr>
              <a:t>Fundamentals of CDI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04001-CBEB-422C-9A16-2CEB99F6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481"/>
                </a:solidFill>
              </a:defRPr>
            </a:pPr>
            <a:r>
              <a:rPr sz="1350" b="0">
                <a:solidFill>
                  <a:srgbClr val="617481"/>
                </a:solidFill>
              </a:rPr>
              <a:t>Classroom deck on high-quality documentation, document types, and how the record becomes coded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43B7E5-FECE-4B3E-9442-AEB8A626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532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F6F68"/>
                </a:solidFill>
              </a:defRPr>
            </a:pPr>
            <a:r>
              <a:rPr sz="900" b="0">
                <a:solidFill>
                  <a:srgbClr val="1F6F68"/>
                </a:solidFill>
              </a:rPr>
              <a:t>Clinical documentation 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EF39C-4BAD-4CCB-83C5-202DDE11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7085A-72F9-48F5-BC28-282C4EA4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A3B47"/>
                </a:solidFill>
              </a:defRPr>
            </a:pPr>
            <a:r>
              <a:rPr sz="1800" b="0">
                <a:solidFill>
                  <a:srgbClr val="2A3B47"/>
                </a:solidFill>
              </a:rPr>
              <a:t>Teach trainees to recognize strong documentation, spot risk early, and connect the clinical story to accurate coded data.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06668-92E5-4CDA-9571-4778EB2E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972050" cy="1828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79F0A-6F8F-4146-99DA-8B7B09C6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972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EDC06-AD28-469F-A0EE-F4F0346C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405E"/>
                </a:solidFill>
              </a:defRPr>
            </a:pPr>
            <a:r>
              <a:rPr sz="1800" b="1">
                <a:solidFill>
                  <a:srgbClr val="23405E"/>
                </a:solidFill>
              </a:rPr>
              <a:t>What trainees should leave with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F3D2FC-82B7-4A4B-9E7E-D2A6E307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438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A3B47"/>
                </a:solidFill>
              </a:defRPr>
            </a:pPr>
            <a:r>
              <a:rPr sz="1275">
                <a:solidFill>
                  <a:srgbClr val="2A3B47"/>
                </a:solidFill>
              </a:rPr>
              <a:t>A practical standard for judging documentation quality</a:t>
            </a:r>
          </a:p>
          <a:p xmlns:a="http://schemas.openxmlformats.org/drawingml/2006/main">
            <a:pPr>
              <a:defRPr sz="1275">
                <a:solidFill>
                  <a:srgbClr val="2A3B47"/>
                </a:solidFill>
              </a:defRPr>
            </a:pPr>
            <a:r>
              <a:rPr sz="1275">
                <a:solidFill>
                  <a:srgbClr val="2A3B47"/>
                </a:solidFill>
              </a:rPr>
              <a:t>A method for reading the full chart, not one note in isolation</a:t>
            </a:r>
          </a:p>
          <a:p xmlns:a="http://schemas.openxmlformats.org/drawingml/2006/main">
            <a:pPr>
              <a:defRPr sz="1275">
                <a:solidFill>
                  <a:srgbClr val="2A3B47"/>
                </a:solidFill>
              </a:defRPr>
            </a:pPr>
            <a:r>
              <a:rPr sz="1275">
                <a:solidFill>
                  <a:srgbClr val="2A3B47"/>
                </a:solidFill>
              </a:rPr>
              <a:t>A clearer sense of when documentation can support coding and when it cannot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E30ABE-319A-4C32-B822-5406E35E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38350"/>
            <a:ext cx="4895850" cy="28765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E4F2E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5E5E0-6E6A-4B17-8F40-C75E40B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405E"/>
                </a:solidFill>
              </a:defRPr>
            </a:pPr>
            <a:r>
              <a:rPr sz="1800" b="1">
                <a:solidFill>
                  <a:srgbClr val="23405E"/>
                </a:solidFill>
              </a:rPr>
              <a:t>Teaching arc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F2CC6-2C73-4154-A1DD-52C4919C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43624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76CE1-8AA4-4060-A8A0-4BEA71E1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14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3405E"/>
                </a:solidFill>
              </a:defRPr>
            </a:pPr>
            <a:r>
              <a:rPr sz="1500" b="1">
                <a:solidFill>
                  <a:srgbClr val="23405E"/>
                </a:solidFill>
              </a:rPr>
              <a:t>1. Quality lens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52A1C-14B5-42D5-8A32-3201FC82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Judge every note with the same standard.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F65EC-2ACE-404C-8F61-766A4F78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43624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BF9B46-FE0A-45AF-B9A7-62E4E461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623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3405E"/>
                </a:solidFill>
              </a:defRPr>
            </a:pPr>
            <a:r>
              <a:rPr sz="1500" b="1">
                <a:solidFill>
                  <a:srgbClr val="23405E"/>
                </a:solidFill>
              </a:rPr>
              <a:t>2. Source logic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5735A-A9CF-4637-BE96-4180B517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Know which documents and authors carry coding weight.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AE1872-60A4-4B88-9E16-A2DCE516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57650"/>
            <a:ext cx="436245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517644-4AF2-473C-8371-23B529A2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100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3405E"/>
                </a:solidFill>
              </a:defRPr>
            </a:pPr>
            <a:r>
              <a:rPr sz="1500" b="1">
                <a:solidFill>
                  <a:srgbClr val="23405E"/>
                </a:solidFill>
              </a:rPr>
              <a:t>3. Data translation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3485CE-EFB7-4FC1-A9BA-A4B4C215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1005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Follow the record until the final data makes sense.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FB0801-4537-435C-BB30-61E4326E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363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027094-6E29-4F60-87DB-675C1778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34075"/>
            <a:ext cx="988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This version is designed for classroom teaching: concept, example, application, then coding impact.</a:t>
            </a:r>
          </a:p>
        </p:txBody>
      </p:sp>
    </p:spTree>
    <p:extLst>
      <p:ext uri="{BB962C8B-B14F-4D97-AF65-F5344CB8AC3E}">
        <p14:creationId xmlns:p14="http://schemas.microsoft.com/office/powerpoint/2010/main" val="1364071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5D32A7-64DC-49AE-9857-91B3F060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BDCB8-7E40-43F4-8AB1-4D6FC201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9D785-F46B-4943-B862-DBB36D0C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68"/>
                </a:solidFill>
              </a:defRPr>
            </a:pPr>
            <a:r>
              <a:rPr sz="1350" b="1">
                <a:solidFill>
                  <a:srgbClr val="1F6F68"/>
                </a:solidFill>
              </a:rPr>
              <a:t>Fundamentals of CDI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6AD8A-742C-4922-AAC7-251988CB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3405E"/>
                </a:solidFill>
              </a:defRPr>
            </a:pPr>
            <a:r>
              <a:rPr sz="2850" b="1">
                <a:solidFill>
                  <a:srgbClr val="23405E"/>
                </a:solidFill>
              </a:rPr>
              <a:t>Why documentation quality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5D78A-A7A1-4AE1-AD5E-A2CB55FB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481"/>
                </a:solidFill>
              </a:defRPr>
            </a:pPr>
            <a:r>
              <a:rPr sz="1350" b="0">
                <a:solidFill>
                  <a:srgbClr val="617481"/>
                </a:solidFill>
              </a:rPr>
              <a:t>The cause-and-effect logic is simple: better documentation produces better downstream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FEA02-B2D4-404C-9E9D-5C4EDFEE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532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F6F68"/>
                </a:solidFill>
              </a:defRPr>
            </a:pPr>
            <a:r>
              <a:rPr sz="900" b="0">
                <a:solidFill>
                  <a:srgbClr val="1F6F68"/>
                </a:solidFill>
              </a:rPr>
              <a:t>Clinical documentation 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AD2E4-5CED-4EB8-B1C6-19A00531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CC5CE-BF15-499A-B782-B0CBAD06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9431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4F2E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D4FAC-96CF-43E8-BD6C-70456BF6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88996-1A04-4730-88EC-B43759B2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764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Patient care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9B4A1-ACFC-4F36-9E63-D8D73C79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600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The next clinician can understand the condition, severity, and response to treatment.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E7BE0-A7EA-4992-9642-8BD443AC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33600"/>
            <a:ext cx="19431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6E7B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652D1-88EA-4967-8995-79860076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669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4A2524-6614-4E46-A7DA-2FDC5F76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764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Coding 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09018-941F-4CF1-B35F-92538046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0350"/>
            <a:ext cx="1600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Coded data reflects the diagnoses and procedures that are actually supportable.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756C2B-F1A8-4593-BD69-4FCA3794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33600"/>
            <a:ext cx="19431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FBF1C-51EB-4CB6-9691-9C92908F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669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E5557-210E-4D17-9010-038ACA90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764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Quality scores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BFF01-AD42-4B5B-916F-D4CDA2A0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1600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Severity, Present on Admission status, and outcome measures become more trustworthy.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49245A-31F1-4E20-B8DF-39A27D5E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33600"/>
            <a:ext cx="19431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DCD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854E1F-00B6-4BFE-946B-FCCDDB6F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669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84D208-9036-477C-B414-546E5729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764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Reimbursement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81FBE0-4208-4FA6-95C8-63BDCDFC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1600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Severity-based grouping is more accurate when documentation captures real complexity.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EA6C76-0E7D-43E4-855C-6541E44C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33600"/>
            <a:ext cx="1714500" cy="16002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9E2F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607E86-29AA-45F0-936D-9F9A6E23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669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E3C846-14AB-43BD-B93F-A7E6E0BE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76475"/>
            <a:ext cx="1009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Planning &amp; research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8EB3E4-B7AB-4465-960A-E932B60C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00350"/>
            <a:ext cx="1371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Aggregated data becomes more useful for service design and population analysis.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520965-B898-4B6B-8F4A-AB902A7A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9151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0635BC-9E59-482D-92EF-E7770C1A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405E"/>
                </a:solidFill>
              </a:defRPr>
            </a:pPr>
            <a:r>
              <a:rPr sz="1800" b="1">
                <a:solidFill>
                  <a:srgbClr val="23405E"/>
                </a:solidFill>
              </a:rPr>
              <a:t>Compliance lens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6A5BDD-E3F7-4A5F-AE45-E25F7C7F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05350"/>
            <a:ext cx="632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A3B47"/>
                </a:solidFill>
              </a:defRPr>
            </a:pPr>
            <a:r>
              <a:rPr sz="1275" b="0">
                <a:solidFill>
                  <a:srgbClr val="2A3B47"/>
                </a:solidFill>
              </a:rPr>
              <a:t>The Office of Inspector General (OIG) scrutinizes documentation that does not convincingly support medical necessity, service intensity, or high-paying diagnoses. Weak documentation is not only a teaching problem; it is a compliance risk.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390C22-ED49-4AE7-892B-2E60EACB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57650"/>
            <a:ext cx="3028950" cy="1771650"/>
          </a:xfrm>
          <a:prstGeom xmlns:a="http://schemas.openxmlformats.org/drawingml/2006/main" prst="roundRect">
            <a:avLst>
              <a:gd name="adj" fmla="val 8602"/>
            </a:avLst>
          </a:prstGeom>
          <a:solidFill xmlns:a="http://schemas.openxmlformats.org/drawingml/2006/main">
            <a:srgbClr val="182C3E"/>
          </a:solidFill>
          <a:ln xmlns:a="http://schemas.openxmlformats.org/drawingml/2006/main" w="0">
            <a:solidFill>
              <a:srgbClr val="182C3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7DC837-145D-4019-A9CC-9F3F8C4C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291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E7B4"/>
                </a:solidFill>
              </a:defRPr>
            </a:pPr>
            <a:r>
              <a:rPr sz="1350" b="1">
                <a:solidFill>
                  <a:srgbClr val="F6E7B4"/>
                </a:solidFill>
              </a:rPr>
              <a:t>POLL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E2ED99-FDDC-4964-900F-7F415C4D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529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Which downstream area is most visibly damaged when the clinical story is vague?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6D724B-B9EB-4FBB-B2F1-9CABC55C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4825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solidFill>
              <a:srgbClr val="FFFFF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137AB8-04C8-43B0-956D-6D69910A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24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Care handoff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2685E8-30D1-4AD5-AA1D-A9B6A005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4825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solidFill>
              <a:srgbClr val="FFFFF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A41BBF-B79C-4E34-BB79-88E091C6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124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Coding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03199A-1624-416F-AED3-1F6E6DC6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4830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solidFill>
              <a:srgbClr val="FFFFF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0C90B1-7321-49A9-9B20-5D9AB1C5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245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Quality scores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572AD7-52B2-462D-9189-6F672437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44830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solidFill>
              <a:srgbClr val="FFFFF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C253AA-367B-44CC-9C5C-CB23E769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5245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Reimbursement</a:t>
            </a:r>
          </a:p>
        </p:txBody>
      </p:sp>
    </p:spTree>
    <p:extLst>
      <p:ext uri="{BB962C8B-B14F-4D97-AF65-F5344CB8AC3E}">
        <p14:creationId xmlns:p14="http://schemas.microsoft.com/office/powerpoint/2010/main" val="14953256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CE5337-D3B5-4A54-AA33-0F540FCB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3BEA4-FCF2-4D88-8DB0-4A1A1E13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A6A98-A461-4E1C-9270-36BEB824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68"/>
                </a:solidFill>
              </a:defRPr>
            </a:pPr>
            <a:r>
              <a:rPr sz="1350" b="1">
                <a:solidFill>
                  <a:srgbClr val="1F6F68"/>
                </a:solidFill>
              </a:rPr>
              <a:t>Fundamentals of CDI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F7C10-EE9F-4628-A354-5DD8F8B2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3405E"/>
                </a:solidFill>
              </a:defRPr>
            </a:pPr>
            <a:r>
              <a:rPr sz="2850" b="1">
                <a:solidFill>
                  <a:srgbClr val="23405E"/>
                </a:solidFill>
              </a:rPr>
              <a:t>The seven gold-standard criteria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37662-52BD-4C3B-8705-708D782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481"/>
                </a:solidFill>
              </a:defRPr>
            </a:pPr>
            <a:r>
              <a:rPr sz="1350" b="0">
                <a:solidFill>
                  <a:srgbClr val="617481"/>
                </a:solidFill>
              </a:rPr>
              <a:t>Use one review standard across every clinical entry, regardless of setting or author.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DF183-65E8-42AA-A784-5D640FD9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532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F6F68"/>
                </a:solidFill>
              </a:defRPr>
            </a:pPr>
            <a:r>
              <a:rPr sz="900" b="0">
                <a:solidFill>
                  <a:srgbClr val="1F6F68"/>
                </a:solidFill>
              </a:rPr>
              <a:t>Clinical documentation 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6DF9BF-1B94-420F-A8B7-8DCA7603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A0F800-7174-4A3A-8E37-807E1573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7150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72461-58CF-4482-AD16-EF3D86BA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68"/>
                </a:solidFill>
              </a:defRPr>
            </a:pPr>
            <a:r>
              <a:rPr sz="1275" b="1">
                <a:solidFill>
                  <a:srgbClr val="1F6F68"/>
                </a:solidFill>
              </a:rPr>
              <a:t>#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5878C-B9A0-4440-8ED1-207F4B7C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38350"/>
            <a:ext cx="179070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6DD47-1D06-4C0B-B384-6B1EDB8E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33600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68"/>
                </a:solidFill>
              </a:defRPr>
            </a:pPr>
            <a:r>
              <a:rPr sz="1275" b="1">
                <a:solidFill>
                  <a:srgbClr val="1F6F68"/>
                </a:solidFill>
              </a:rPr>
              <a:t>Criterion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5382E-06AC-4E11-96D1-CEBF5F2D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38350"/>
            <a:ext cx="392430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C3857C-329C-43BF-A7EC-2BE3242F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33600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68"/>
                </a:solidFill>
              </a:defRPr>
            </a:pPr>
            <a:r>
              <a:rPr sz="1275" b="1">
                <a:solidFill>
                  <a:srgbClr val="1F6F68"/>
                </a:solidFill>
              </a:rPr>
              <a:t>What it means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7F377-99D6-48F5-9EDC-E08CAE94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38350"/>
            <a:ext cx="453390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AB005-47FB-4245-A113-39B02D67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33600"/>
            <a:ext cx="430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68"/>
                </a:solidFill>
              </a:defRPr>
            </a:pPr>
            <a:r>
              <a:rPr sz="1275" b="1">
                <a:solidFill>
                  <a:srgbClr val="1F6F68"/>
                </a:solidFill>
              </a:rPr>
              <a:t>What trainees should look for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A8548-12C5-4215-96A5-6D252600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4F2E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A5671-5F85-4A8D-8588-A6530CDC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431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ED143-BE69-4F66-94C2-7BC15F04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71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405E"/>
                </a:solidFill>
              </a:defRPr>
            </a:pPr>
            <a:r>
              <a:rPr sz="1575" b="1">
                <a:solidFill>
                  <a:srgbClr val="23405E"/>
                </a:solidFill>
              </a:rPr>
              <a:t>Legible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C600E2-FA21-435C-8085-46669264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62225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A3B47"/>
                </a:solidFill>
              </a:defRPr>
            </a:pPr>
            <a:r>
              <a:rPr sz="1125" b="0">
                <a:solidFill>
                  <a:srgbClr val="2A3B47"/>
                </a:solidFill>
              </a:rPr>
              <a:t>Easy for the next user to read and understand.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49ADDA-ADEE-489B-B788-388140C3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622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A3B47"/>
                </a:solidFill>
              </a:defRPr>
            </a:pPr>
            <a:r>
              <a:rPr sz="1125" b="0">
                <a:solidFill>
                  <a:srgbClr val="2A3B47"/>
                </a:solidFill>
              </a:rPr>
              <a:t>Not rushed, careless, or difficult to decipher.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CFC6F3-DE9D-43D4-97EF-6E4A9099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08204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6E7B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FCB4F-9AAF-4B5E-BCB6-44D5AC9E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76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3357D0-6A5C-4843-80F7-02F2649F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051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405E"/>
                </a:solidFill>
              </a:defRPr>
            </a:pPr>
            <a:r>
              <a:rPr sz="1575" b="1">
                <a:solidFill>
                  <a:srgbClr val="23405E"/>
                </a:solidFill>
              </a:rPr>
              <a:t>Reliable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F133DA-3DB9-4005-8B6F-2454586A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095625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A3B47"/>
                </a:solidFill>
              </a:defRPr>
            </a:pPr>
            <a:r>
              <a:rPr sz="1125" b="0">
                <a:solidFill>
                  <a:srgbClr val="2A3B47"/>
                </a:solidFill>
              </a:rPr>
              <a:t>The documented diagnosis supports the treatment actually being given.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429C14-003C-4074-AF78-934FC2A0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956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A3B47"/>
                </a:solidFill>
              </a:defRPr>
            </a:pPr>
            <a:r>
              <a:rPr sz="1125" b="0">
                <a:solidFill>
                  <a:srgbClr val="2A3B47"/>
                </a:solidFill>
              </a:rPr>
              <a:t>If the treatment pattern points elsewhere, the story is weak.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BA09B5-238A-4424-ACDC-E82E30D8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4A8825-1C2D-4D07-9CA2-B0656BE3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99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53EAE8-6075-4FB0-BE98-6AC2B53B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38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405E"/>
                </a:solidFill>
              </a:defRPr>
            </a:pPr>
            <a:r>
              <a:rPr sz="1575" b="1">
                <a:solidFill>
                  <a:srgbClr val="23405E"/>
                </a:solidFill>
              </a:rPr>
              <a:t>Precise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A7BFC7-38E0-40BD-8D7E-79F585A4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29025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A3B47"/>
                </a:solidFill>
              </a:defRPr>
            </a:pPr>
            <a:r>
              <a:rPr sz="1125" b="0">
                <a:solidFill>
                  <a:srgbClr val="2A3B47"/>
                </a:solidFill>
              </a:rPr>
              <a:t>Use the most accurate and specific label available.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4135CD-8B1D-4F63-AF58-20FC694B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290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A3B47"/>
                </a:solidFill>
              </a:defRPr>
            </a:pPr>
            <a:r>
              <a:rPr sz="1125" b="0">
                <a:solidFill>
                  <a:srgbClr val="2A3B47"/>
                </a:solidFill>
              </a:rPr>
              <a:t>Teach specific pneumonia, not a generic diagnosis when the evidence is stronger.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32A171-5271-4A69-BEB0-7009787B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8204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DCD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9D6CB0-1F90-4592-9770-43450B49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6E12E3-72A4-4942-B24B-3C4A63B0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719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405E"/>
                </a:solidFill>
              </a:defRPr>
            </a:pPr>
            <a:r>
              <a:rPr sz="1575" b="1">
                <a:solidFill>
                  <a:srgbClr val="23405E"/>
                </a:solidFill>
              </a:rPr>
              <a:t>Complete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49947A-1F79-4089-88CF-02AB539E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62425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A3B47"/>
                </a:solidFill>
              </a:defRPr>
            </a:pPr>
            <a:r>
              <a:rPr sz="1125" b="0">
                <a:solidFill>
                  <a:srgbClr val="2A3B47"/>
                </a:solidFill>
              </a:rPr>
              <a:t>Address the concern, authenticate the entry, and interpret abnormal findings.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9521D1-C21F-407F-9E87-83573164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624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A3B47"/>
                </a:solidFill>
              </a:defRPr>
            </a:pPr>
            <a:r>
              <a:rPr sz="1125" b="0">
                <a:solidFill>
                  <a:srgbClr val="2A3B47"/>
                </a:solidFill>
              </a:rPr>
              <a:t>An abnormal test alone is not enough without physician meaning.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B3AF88-DAF1-4E56-A3D4-064B9948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9E2F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3259EB-4CC1-4CBA-9D66-8F94F5B8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CEC357-AF33-4FB2-B900-672E8A38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05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405E"/>
                </a:solidFill>
              </a:defRPr>
            </a:pPr>
            <a:r>
              <a:rPr sz="1575" b="1">
                <a:solidFill>
                  <a:srgbClr val="23405E"/>
                </a:solidFill>
              </a:rPr>
              <a:t>Consistent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B00531-2D60-487B-8753-D4DF78A3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95825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A3B47"/>
                </a:solidFill>
              </a:defRPr>
            </a:pPr>
            <a:r>
              <a:rPr sz="1125" b="0">
                <a:solidFill>
                  <a:srgbClr val="2A3B47"/>
                </a:solidFill>
              </a:rPr>
              <a:t>The record should not contradict itself across notes or providers.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4F52DA7-F5CA-479B-A2DE-02B5BB08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95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A3B47"/>
                </a:solidFill>
              </a:defRPr>
            </a:pPr>
            <a:r>
              <a:rPr sz="1125" b="0">
                <a:solidFill>
                  <a:srgbClr val="2A3B47"/>
                </a:solidFill>
              </a:rPr>
              <a:t>If providers disagree, the attending physician must resolve it.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C93DFD-2AE5-40FB-8166-DE9C78D8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8204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2ECDD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F6ECAF-DF2D-4DD0-8194-47333E4B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01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7DA6A5-03B4-4952-98E4-3E7444BA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387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405E"/>
                </a:solidFill>
              </a:defRPr>
            </a:pPr>
            <a:r>
              <a:rPr sz="1575" b="1">
                <a:solidFill>
                  <a:srgbClr val="23405E"/>
                </a:solidFill>
              </a:rPr>
              <a:t>Clear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7F6A27-BB39-4190-9D80-22FA6673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29225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A3B47"/>
                </a:solidFill>
              </a:defRPr>
            </a:pPr>
            <a:r>
              <a:rPr sz="1125" b="0">
                <a:solidFill>
                  <a:srgbClr val="2A3B47"/>
                </a:solidFill>
              </a:rPr>
              <a:t>Avoid ambiguity; explain etiology or state uncertainty directly.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21AF17-C430-4B53-87FC-333E7ACC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292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A3B47"/>
                </a:solidFill>
              </a:defRPr>
            </a:pPr>
            <a:r>
              <a:rPr sz="1125" b="0">
                <a:solidFill>
                  <a:srgbClr val="2A3B47"/>
                </a:solidFill>
              </a:rPr>
              <a:t>Symptoms without suspected cause are often incomplete teaching moments.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944584-7CAC-4167-9029-B68CE0F1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363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D5FBE2E-4896-4CB5-95D9-0CB09F1F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34075"/>
            <a:ext cx="988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The seventh criterion is timeliness, which gets separate emphasis because it cannot be repaired after the fact.</a:t>
            </a:r>
          </a:p>
        </p:txBody>
      </p:sp>
    </p:spTree>
    <p:extLst>
      <p:ext uri="{BB962C8B-B14F-4D97-AF65-F5344CB8AC3E}">
        <p14:creationId xmlns:p14="http://schemas.microsoft.com/office/powerpoint/2010/main" val="15649212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DE1F87-8A43-44E9-A234-9325ECD1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85FF7-3752-43DE-9A7B-20AFFA9E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95909-CD7D-4998-91E7-0BABD65B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68"/>
                </a:solidFill>
              </a:defRPr>
            </a:pPr>
            <a:r>
              <a:rPr sz="1350" b="1">
                <a:solidFill>
                  <a:srgbClr val="1F6F68"/>
                </a:solidFill>
              </a:rPr>
              <a:t>Fundamentals of CDI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807A1-DDCF-4563-A3DA-C18E920F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3405E"/>
                </a:solidFill>
              </a:defRPr>
            </a:pPr>
            <a:r>
              <a:rPr sz="2850" b="1">
                <a:solidFill>
                  <a:srgbClr val="23405E"/>
                </a:solidFill>
              </a:rPr>
              <a:t>Three criteria trainees miss most often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4DA1D-F54D-4A24-9FF5-87BC5CDF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481"/>
                </a:solidFill>
              </a:defRPr>
            </a:pPr>
            <a:r>
              <a:rPr sz="1350" b="0">
                <a:solidFill>
                  <a:srgbClr val="617481"/>
                </a:solidFill>
              </a:rPr>
              <a:t>Reliable, precise, and complete documentation usually drive the biggest CDI teaching opportunities.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C9272-F4E7-40E3-A412-3000BE4B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532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F6F68"/>
                </a:solidFill>
              </a:defRPr>
            </a:pPr>
            <a:r>
              <a:rPr sz="900" b="0">
                <a:solidFill>
                  <a:srgbClr val="1F6F68"/>
                </a:solidFill>
              </a:rPr>
              <a:t>Clinical documentation 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95BD4-8B9D-4DA2-A51C-6704ADCD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4429A-0F67-4CEF-8B73-5020CED3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35280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4F2E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8866F-BC56-45BB-9EBA-9DEB52C0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Reliable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1A58B-78A9-4275-82D2-18B867CE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Documented diagnosis: Chronic Obstructive Pulmonary Disease. Treatment pattern: diuresis, fluid restriction, heart-failure style monitoring.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76D4D-9347-46E2-B853-E0252B66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8"/>
                </a:solidFill>
              </a:defRPr>
            </a:pPr>
            <a:r>
              <a:rPr sz="1200" b="1">
                <a:solidFill>
                  <a:srgbClr val="1F6F68"/>
                </a:solidFill>
              </a:rPr>
              <a:t>Teaching move: Teach trainees to ask whether the diagnosis truly supports the treatment pattern.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500595-1584-4E0C-ABA6-F44292A6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35280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6E7B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2C246-90C5-4B17-AA63-36AB174A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86000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Precise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FFA42-5212-423C-B664-908A50B2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8130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Pneumonia is documented, but imaging and aspiration risk point to aspiration pneumonia rather than a broad label.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045C7-E99C-4D54-9C64-9C038B73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624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8"/>
                </a:solidFill>
              </a:defRPr>
            </a:pPr>
            <a:r>
              <a:rPr sz="1200" b="1">
                <a:solidFill>
                  <a:srgbClr val="1F6F68"/>
                </a:solidFill>
              </a:rPr>
              <a:t>Teaching move: Move from a generic diagnosis to the most clinically supported diagnosis.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47EF1C-4040-4BFC-A87D-D1C03132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33600"/>
            <a:ext cx="278130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A66C9-C1E4-4280-B899-F8DEF887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Complete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181A6-5795-4B91-B4F2-65D523A2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2438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Sodium, magnesium, and potassium are abnormal, but no one documents what they mean clinically.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111F97-69C4-40C0-97E6-1DD89AEA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624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8"/>
                </a:solidFill>
              </a:defRPr>
            </a:pPr>
            <a:r>
              <a:rPr sz="1200" b="1">
                <a:solidFill>
                  <a:srgbClr val="1F6F68"/>
                </a:solidFill>
              </a:rPr>
              <a:t>Teaching move: Require physician interpretation before treating the chart as complete.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755C75-8B9B-4E57-9047-6545D000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2489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EC632E-8FDB-4D18-9532-73E0B170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67325"/>
            <a:ext cx="967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6F68"/>
                </a:solidFill>
              </a:defRPr>
            </a:pPr>
            <a:r>
              <a:rPr sz="1350" b="1">
                <a:solidFill>
                  <a:srgbClr val="1F6F68"/>
                </a:solidFill>
              </a:rPr>
              <a:t>Teaching phrase to reinforce: coders do not code abnormal numbers; they code physician-documented clinical meaning.</a:t>
            </a:r>
          </a:p>
        </p:txBody>
      </p:sp>
    </p:spTree>
    <p:extLst>
      <p:ext uri="{BB962C8B-B14F-4D97-AF65-F5344CB8AC3E}">
        <p14:creationId xmlns:p14="http://schemas.microsoft.com/office/powerpoint/2010/main" val="7251421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F5FFB4-86CB-400E-B1EB-CC4FF2CA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A493C-155A-451F-84C5-1B55A7D4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99AD4-037B-4F4F-8595-83F67209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68"/>
                </a:solidFill>
              </a:defRPr>
            </a:pPr>
            <a:r>
              <a:rPr sz="1350" b="1">
                <a:solidFill>
                  <a:srgbClr val="1F6F68"/>
                </a:solidFill>
              </a:rPr>
              <a:t>Fundamentals of CDI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7482F-B61C-4CD8-9313-19C22203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3405E"/>
                </a:solidFill>
              </a:defRPr>
            </a:pPr>
            <a:r>
              <a:rPr sz="2850" b="1">
                <a:solidFill>
                  <a:srgbClr val="23405E"/>
                </a:solidFill>
              </a:rPr>
              <a:t>Consistency, clarity, and timeliness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3B7F0-E95C-4E3F-BBD0-9135D8E7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481"/>
                </a:solidFill>
              </a:defRPr>
            </a:pPr>
            <a:r>
              <a:rPr sz="1350" b="0">
                <a:solidFill>
                  <a:srgbClr val="617481"/>
                </a:solidFill>
              </a:rPr>
              <a:t>These three criteria often separate a usable chart from a chart that still needs clarification.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D9D60-7FA9-456B-A13B-EAB570FD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532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F6F68"/>
                </a:solidFill>
              </a:defRPr>
            </a:pPr>
            <a:r>
              <a:rPr sz="900" b="0">
                <a:solidFill>
                  <a:srgbClr val="1F6F68"/>
                </a:solidFill>
              </a:rPr>
              <a:t>Clinical documentation 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D4C13-1F72-4A2B-AE99-2C99731B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F84BF-1455-4FEE-A94A-4B2EFD84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2194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7DCD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82FE5B-78D8-435D-8F5A-3F577F59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CB60B-A8A8-420D-B98A-8DDF7BC6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95525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Consistency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556CE-1920-4FF5-9A8B-35421DFB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2876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If one provider says transient ischemic attack and another says cerebrovascular accident, the record does not yet tell one dependable story.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AFB8B-821D-4DCD-A7BC-60A2ADD2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32194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15030-0E3F-4C1C-BF42-9FE11370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860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657859-1D54-475A-8D34-A030B01E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95525"/>
            <a:ext cx="2514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Clarity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58955-C6CB-4871-9C0B-C9DD09F0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19400"/>
            <a:ext cx="2876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Symptoms such as syncope should not sit alone without a suspected etiology or a statement that the cause remains undetermined.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F4111-D788-4B1A-BA85-BBFC6D9F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266700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4F2E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EA4F85-D603-484D-83E6-55527F41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F64CA-B3CE-4FCA-98AB-A3DE1366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95525"/>
            <a:ext cx="1962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Timeliness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77F439-FEDB-4E2D-A5D1-8CA3864D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19400"/>
            <a:ext cx="2324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A late note can be clarified later, but it can never become timely. This is the least forgiving criterion.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536D9-B9A9-41A7-BAFB-8C752D76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39814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82C3E"/>
          </a:solidFill>
          <a:ln xmlns:a="http://schemas.openxmlformats.org/drawingml/2006/main" w="0">
            <a:solidFill>
              <a:srgbClr val="182C3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4EE43D-8BA5-4BD9-B134-24DDC721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E7B4"/>
                </a:solidFill>
              </a:defRPr>
            </a:pPr>
            <a:r>
              <a:rPr sz="1350" b="1">
                <a:solidFill>
                  <a:srgbClr val="F6E7B4"/>
                </a:solidFill>
              </a:rPr>
              <a:t>POLL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FA0EAD-5DF1-461D-B45F-A16DF33A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3562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Which problem cannot be repaired after review?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63946B-CB34-4266-B31E-EAAA2399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solidFill>
              <a:srgbClr val="FFFFF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50450D-53B0-43A3-B526-F12FD471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Vagueness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2D8784-27D5-4859-9444-F26E1035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25780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solidFill>
              <a:srgbClr val="FFFFF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AB0A34-1988-45F0-9B99-876842AF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340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Inconsistency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E467B2-E125-42A6-8B87-1AF01F96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5785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solidFill>
              <a:srgbClr val="FFFFF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A584C6-F544-4CB2-BCBE-E3FF0C58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340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Late entry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8BD992-458F-4EFE-9619-E1DB3BCE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65785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solidFill>
              <a:srgbClr val="FFFFF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3C6A75-1B45-408B-B097-524A0764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7340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Missing specificity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5D8EAF-D04A-44EC-86C5-00DFFC79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67200"/>
            <a:ext cx="5905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12B7DF-F419-40E1-A2B6-B3EFD795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14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405E"/>
                </a:solidFill>
              </a:defRPr>
            </a:pPr>
            <a:r>
              <a:rPr sz="1800" b="1">
                <a:solidFill>
                  <a:srgbClr val="23405E"/>
                </a:solidFill>
              </a:rPr>
              <a:t>Classroom emphasis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A7B7DA-BEE4-42B0-BD11-1F49DD95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876800"/>
            <a:ext cx="521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A3B47"/>
                </a:solidFill>
              </a:defRPr>
            </a:pPr>
            <a:r>
              <a:rPr sz="1275">
                <a:solidFill>
                  <a:srgbClr val="2A3B47"/>
                </a:solidFill>
              </a:rPr>
              <a:t>A vague note can be clarified.</a:t>
            </a:r>
          </a:p>
          <a:p xmlns:a="http://schemas.openxmlformats.org/drawingml/2006/main">
            <a:pPr>
              <a:defRPr sz="1275">
                <a:solidFill>
                  <a:srgbClr val="2A3B47"/>
                </a:solidFill>
              </a:defRPr>
            </a:pPr>
            <a:r>
              <a:rPr sz="1275">
                <a:solidFill>
                  <a:srgbClr val="2A3B47"/>
                </a:solidFill>
              </a:rPr>
              <a:t>A contradiction can be resolved.</a:t>
            </a:r>
          </a:p>
          <a:p xmlns:a="http://schemas.openxmlformats.org/drawingml/2006/main">
            <a:pPr>
              <a:defRPr sz="1275">
                <a:solidFill>
                  <a:srgbClr val="2A3B47"/>
                </a:solidFill>
              </a:defRPr>
            </a:pPr>
            <a:r>
              <a:rPr sz="1275">
                <a:solidFill>
                  <a:srgbClr val="2A3B47"/>
                </a:solidFill>
              </a:rPr>
              <a:t>A late note stays late even after an addendum.</a:t>
            </a:r>
          </a:p>
        </p:txBody>
      </p:sp>
    </p:spTree>
    <p:extLst>
      <p:ext uri="{BB962C8B-B14F-4D97-AF65-F5344CB8AC3E}">
        <p14:creationId xmlns:p14="http://schemas.microsoft.com/office/powerpoint/2010/main" val="432491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3DBA04-619D-44BE-B4FD-F35ADEC6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302CF-B0B6-4FF9-BA4A-7570BB18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675F0-B31F-47DB-A811-AB7E2FE5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68"/>
                </a:solidFill>
              </a:defRPr>
            </a:pPr>
            <a:r>
              <a:rPr sz="1350" b="1">
                <a:solidFill>
                  <a:srgbClr val="1F6F68"/>
                </a:solidFill>
              </a:rPr>
              <a:t>Fundamentals of CDI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4E30D-84A1-4C86-9843-065ED127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3405E"/>
                </a:solidFill>
              </a:defRPr>
            </a:pPr>
            <a:r>
              <a:rPr sz="2850" b="1">
                <a:solidFill>
                  <a:srgbClr val="23405E"/>
                </a:solidFill>
              </a:rPr>
              <a:t>Document types and their common CDI risks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C184E-11E2-439D-8DCA-9D505084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481"/>
                </a:solidFill>
              </a:defRPr>
            </a:pPr>
            <a:r>
              <a:rPr sz="1350" b="0">
                <a:solidFill>
                  <a:srgbClr val="617481"/>
                </a:solidFill>
              </a:rPr>
              <a:t>The same quality standard applies everywhere, but each document type tends to fail in its own way.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FD2E6-243F-49B7-9E69-E3A41407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532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F6F68"/>
                </a:solidFill>
              </a:defRPr>
            </a:pPr>
            <a:r>
              <a:rPr sz="900" b="0">
                <a:solidFill>
                  <a:srgbClr val="1F6F68"/>
                </a:solidFill>
              </a:rPr>
              <a:t>Clinical documentation 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7A4C4-FD96-470B-8ED0-5C85B846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0F00C9-A870-4C09-8C02-DFA1F249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40030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A2F468-E670-467B-9075-F18D6607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217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68"/>
                </a:solidFill>
              </a:defRPr>
            </a:pPr>
            <a:r>
              <a:rPr sz="1275" b="1">
                <a:solidFill>
                  <a:srgbClr val="1F6F68"/>
                </a:solidFill>
              </a:rPr>
              <a:t>Document type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14F477-75CA-4915-AE87-685D01E0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38350"/>
            <a:ext cx="297180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4137F-E52F-4760-B849-EB775A69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33600"/>
            <a:ext cx="274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68"/>
                </a:solidFill>
              </a:defRPr>
            </a:pPr>
            <a:r>
              <a:rPr sz="1275" b="1">
                <a:solidFill>
                  <a:srgbClr val="1F6F68"/>
                </a:solidFill>
              </a:rPr>
              <a:t>Why it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55222-F629-4BFB-B03F-6218AA40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38350"/>
            <a:ext cx="476250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5F1F0-0000-4562-999C-4D7FBC1B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453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68"/>
                </a:solidFill>
              </a:defRPr>
            </a:pPr>
            <a:r>
              <a:rPr sz="1275" b="1">
                <a:solidFill>
                  <a:srgbClr val="1F6F68"/>
                </a:solidFill>
              </a:rPr>
              <a:t>Common teaching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F402E-C547-4AED-83AE-042007F6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4003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4F2EE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EF1FD-A31D-4CD2-BDCE-F6947934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Discharge summary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00CF6-536D-48D0-8B0B-0C268297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57450"/>
            <a:ext cx="29718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4F2EE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F441E5-D76E-4C5F-AF02-CCDB5D3F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5270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Summarizes the stay and often frames the final story.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638AE-E42D-41CF-8E7B-0F86BF6D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47625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4F2EE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7B18FB-B37F-4A53-93A5-FDB59075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527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Often late and vulnerable to copy-and-paste errors that repeat old or wrong information.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8EA3D6-A02E-4BF8-AADE-AAAAC004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4003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6E7B4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7BC86C-13FE-4E61-8674-728B6615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Problem list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29ADB-C524-434D-83C3-729CCA78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09900"/>
            <a:ext cx="29718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6E7B4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0CD5E7-752B-4EEE-8806-ADB3F799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051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Supports continuity and transitions of care.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424125-A7C4-4FE2-B022-CAA97AFF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09900"/>
            <a:ext cx="47625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6E7B4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2C8D3C-5842-41CF-B9B8-228A1F4F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0515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Old diagnoses can be copied forward and appear active when they are not.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246441-E170-4720-B9FC-F33B8B46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400300" cy="609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498E99-2F03-497F-B949-EC8A469A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History and physical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3A8227-104A-47D0-A42E-7ABE2580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62350"/>
            <a:ext cx="2971800" cy="609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30CE9B-295F-4B61-84C9-BCDE7A8D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576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Sets the starting diagnostic narrative and Present on Admission framing.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726CE1-0723-42E0-BA4A-2DB6EB94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62350"/>
            <a:ext cx="4762500" cy="609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E92F18-DB30-4E98-94FF-BF5D77FC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576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May be authored by house staff or advanced practice clinicians, but the attending remains responsible.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D782FB-3A37-4D61-8481-D9E13F57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400300" cy="609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DCD1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FF0D1A-FE2A-418B-A078-6AE80910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Operative report and pathology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6F297C-C5AF-42F3-B657-A65004EA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71950"/>
            <a:ext cx="2971800" cy="609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DCD1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F6F266-5DEA-4277-A90D-A6CA016F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2672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Together they explain what was done and what the tissue shows.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C9B1AF-84F7-4F02-BD34-A56B4F14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71950"/>
            <a:ext cx="4762500" cy="609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DCD1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2267A0-E460-4ACC-AE9D-269865C0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A surgeon-pathologist conflict requires attending clarification to restore consistency.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78F0BB-9F96-4977-B681-F1117FFA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24003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9E2F4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0157BC-D316-42DB-AA9B-17016CE3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Physician orders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C0D553-AC9D-4015-A249-1E04A1AB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81550"/>
            <a:ext cx="29718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9E2F4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7D2F0C-AF6F-44A7-A0A3-D9077522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87680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Show what was requested, treated, or monitored.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C92FA8-ECD9-44A0-A96F-81836BD8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781550"/>
            <a:ext cx="47625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9E2F4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19D6EC-F1D9-4A8C-9FFD-B80E01E1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7680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Orders often lack the clinical reason or diagnosis that makes them complete.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AD021D-5C07-4E68-B191-F9989891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4003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ECDD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91A081-90A6-44FE-87E3-E056CFEF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Medication Administration Record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0F3190-ADA3-438B-89CD-93AAAE77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34000"/>
            <a:ext cx="29718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ECDD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2BF280-1527-4855-AA0A-E696DA71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4292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Reveals what therapy the patient actually received.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2362C9-CFEC-46EC-B353-D30DFDE1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334000"/>
            <a:ext cx="47625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ECDD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8E7AA4-DC2B-4AA9-A5C2-E3D6311D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2925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An orphan treatment without a matching diagnosis is a strong query trigger.</a:t>
            </a:r>
          </a:p>
        </p:txBody>
      </p:sp>
    </p:spTree>
    <p:extLst>
      <p:ext uri="{BB962C8B-B14F-4D97-AF65-F5344CB8AC3E}">
        <p14:creationId xmlns:p14="http://schemas.microsoft.com/office/powerpoint/2010/main" val="771997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9F41F6-1862-4BC6-8352-98ECDAAD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E4FE7-1055-4462-A63B-904632A7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033AAB-96EA-4968-BD13-C7A945AF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68"/>
                </a:solidFill>
              </a:defRPr>
            </a:pPr>
            <a:r>
              <a:rPr sz="1350" b="1">
                <a:solidFill>
                  <a:srgbClr val="1F6F68"/>
                </a:solidFill>
              </a:rPr>
              <a:t>Fundamentals of CDI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4C8FF-993C-4F90-912B-D116425A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3405E"/>
                </a:solidFill>
              </a:defRPr>
            </a:pPr>
            <a:r>
              <a:rPr sz="2850" b="1">
                <a:solidFill>
                  <a:srgbClr val="23405E"/>
                </a:solidFill>
              </a:rPr>
              <a:t>Which author can support final coding?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43BB9-14D2-4F05-A6C8-358ECB28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481"/>
                </a:solidFill>
              </a:defRPr>
            </a:pPr>
            <a:r>
              <a:rPr sz="1350" b="0">
                <a:solidFill>
                  <a:srgbClr val="617481"/>
                </a:solidFill>
              </a:rPr>
              <a:t>Trainees need a clean rule for diagnosticians, treating clinicians, and hands-on procedural providers.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71178-CF4D-4A9D-80BD-86F00E75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532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F6F68"/>
                </a:solidFill>
              </a:defRPr>
            </a:pPr>
            <a:r>
              <a:rPr sz="900" b="0">
                <a:solidFill>
                  <a:srgbClr val="1F6F68"/>
                </a:solidFill>
              </a:rPr>
              <a:t>Clinical documentation 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661A0-4B7D-455A-855B-139C7AEE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6B8EE-C159-4A22-962B-AF23AE32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64795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06DD2-FA1B-4245-BA88-BD5555BF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68"/>
                </a:solidFill>
              </a:defRPr>
            </a:pPr>
            <a:r>
              <a:rPr sz="1275" b="1">
                <a:solidFill>
                  <a:srgbClr val="1F6F68"/>
                </a:solidFill>
              </a:rPr>
              <a:t>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488CE-9F02-4F6B-B29F-DB65224F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38350"/>
            <a:ext cx="169545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880657-32F8-4A9F-A042-F64A83FA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336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68"/>
                </a:solidFill>
              </a:defRPr>
            </a:pPr>
            <a:r>
              <a:rPr sz="1275" b="1">
                <a:solidFill>
                  <a:srgbClr val="1F6F68"/>
                </a:solidFill>
              </a:rPr>
              <a:t>Final coding?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28302-D5F6-44BD-BE8B-4E2EBE6C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38350"/>
            <a:ext cx="579120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E68378-D60A-487C-9421-5E37AB3C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33600"/>
            <a:ext cx="556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68"/>
                </a:solidFill>
              </a:defRPr>
            </a:pPr>
            <a:r>
              <a:rPr sz="1275" b="1">
                <a:solidFill>
                  <a:srgbClr val="1F6F68"/>
                </a:solidFill>
              </a:rPr>
              <a:t>Teaching explanation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4721F6-82B3-4B0E-AE9D-CADAB188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647950" cy="533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4F2EE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2A8A5-62E1-4C10-8DD6-1A2DBF58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Attending physician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B1D2F-CE6E-406C-91B1-4081E803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1695450" cy="533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4F2EE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72CB8-5DE5-4DF7-B104-A9F01E74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527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Yes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49E79-3ACD-47B6-A547-BE4755F2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5791200" cy="533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4F2EE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3D56BD-E300-4435-8D4D-1416FE61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52700"/>
            <a:ext cx="556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The attending physician owns the final diagnosis story and resolves conflicts.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8B6156-4A80-4BC9-A208-BCFC4737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26479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6E7B4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535C00-1F64-4A8E-AEA3-F0FB8250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2419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House staff: interns, residents, fellows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EAC630-1F7A-4F5F-82C8-917B9B50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90850"/>
            <a:ext cx="16954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6E7B4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9CA960-026A-44E2-8739-2EE8C403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861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Yes, with oversight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76CFFA-05DD-4270-A2EF-9CF69AD8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90850"/>
            <a:ext cx="57912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6E7B4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CCFCAA-0F79-4DD9-BB7D-9E20DBAD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86100"/>
            <a:ext cx="556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They can document, but the attending physician remains ultimately accountable for accuracy.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B530BE-6DE3-454E-9747-6BD6AADA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26479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FE6F7B-00CA-4FF6-B1C6-6D6E60ED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2419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Surgeon or anesthesiologist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8350F7-4EF6-4BCB-A7B8-9E72C34D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81400"/>
            <a:ext cx="16954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CEBC0E-51E7-417E-852B-DBF57070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766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Yes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163B82-4958-43A1-899C-EA71190A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81400"/>
            <a:ext cx="57912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81C13A-4374-4EB9-B62E-7E66E88F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76650"/>
            <a:ext cx="556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These hands-on providers are actively managing the patient and their documentation can support coding.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B41C95-CA3F-4B2A-86F4-27B4CB66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6479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DCD1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E6A702-0B00-43BF-B635-D5F3D743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2419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Interventional cardiologist or comparable procedural specialist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EBF284-AC64-47EF-A09E-81855EFA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16954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DCD1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73F645-583A-4F85-9C4D-BE91FD0B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672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Yes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E316FD-FFE3-48B1-9E42-91375802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71950"/>
            <a:ext cx="57912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DCD1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10F4BE-BD1F-40F9-9C36-F89F5BE1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67200"/>
            <a:ext cx="556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Procedural specialists directly involved in care carry the same accountability logic as other treating clinicians.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B09686-650A-4E64-876F-51F6F7C5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6479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9E2F4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36EB43-13CF-4831-AC20-3FCF71F6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0"/>
            <a:ext cx="2419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Diagnostic radiologist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B8CCFD-A960-4F84-A27A-4036D99B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16954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9E2F4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DA17A1-A1E4-417C-AD0A-02A374D1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5775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No, not alone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F116F1-726F-42B7-B4C7-3A49A08A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762500"/>
            <a:ext cx="57912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9E2F4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79E2AD-5706-4981-86C2-A3B79892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57750"/>
            <a:ext cx="556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Their findings are valuable evidence, but the treating physician must confirm the diagnosis for final coding.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29EE67-6315-44FA-A436-95C216BD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26479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ECDD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E8F65A-D3A8-4FE9-B5B7-CD200D45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2419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Pathologist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922D1E-D4CC-4504-8DE3-970F5452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53050"/>
            <a:ext cx="16954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ECDD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3A8B50-296F-4312-86B2-C92845E1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483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No, not alone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5929EEC-2B5A-43A2-8B57-D730212F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53050"/>
            <a:ext cx="57912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ECDD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F8A0B8-4290-4367-98E9-7610BF62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48300"/>
            <a:ext cx="556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A tissue diagnosis can create a consistency issue, but the attending physician still has to close the loop.</a:t>
            </a:r>
          </a:p>
        </p:txBody>
      </p:sp>
    </p:spTree>
    <p:extLst>
      <p:ext uri="{BB962C8B-B14F-4D97-AF65-F5344CB8AC3E}">
        <p14:creationId xmlns:p14="http://schemas.microsoft.com/office/powerpoint/2010/main" val="8469704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C71CDA-064D-4912-859D-60B0566A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35316-6129-4ABA-903F-DC1F6398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7F18E-FCA0-478D-8BC4-37653E8B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68"/>
                </a:solidFill>
              </a:defRPr>
            </a:pPr>
            <a:r>
              <a:rPr sz="1350" b="1">
                <a:solidFill>
                  <a:srgbClr val="1F6F68"/>
                </a:solidFill>
              </a:rPr>
              <a:t>Fundamentals of CDI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E9F89-9936-4F7D-AF2A-81E5D0FD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3405E"/>
                </a:solidFill>
              </a:defRPr>
            </a:pPr>
            <a:r>
              <a:rPr sz="2850" b="1">
                <a:solidFill>
                  <a:srgbClr val="23405E"/>
                </a:solidFill>
              </a:rPr>
              <a:t>High-yield teaching scenarios from daily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E66F6-9177-48A5-BCB4-FC053FBD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481"/>
                </a:solidFill>
              </a:defRPr>
            </a:pPr>
            <a:r>
              <a:rPr sz="1350" b="0">
                <a:solidFill>
                  <a:srgbClr val="617481"/>
                </a:solidFill>
              </a:rPr>
              <a:t>Use these examples to train pattern recognition, not just memorization.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E10D2-BA93-4F37-A495-5C92B758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532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F6F68"/>
                </a:solidFill>
              </a:defRPr>
            </a:pPr>
            <a:r>
              <a:rPr sz="900" b="0">
                <a:solidFill>
                  <a:srgbClr val="1F6F68"/>
                </a:solidFill>
              </a:rPr>
              <a:t>Clinical documentation 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06D44-5A2F-4F39-984E-B0009A16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3BB3D-5427-4259-AFF8-B52276F1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352800" cy="29718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4F2E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8F7A9-A902-4D10-8775-D2165B3D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Orphan treatment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6112F-226F-4A3F-9667-EAAC3CEA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The patient receives potassium replacement and intravenous fluids, but no diagnosis explains the treatment anywhere in the chart.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BBA7E6-70C1-42DF-848A-31556DD8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8"/>
                </a:solidFill>
              </a:defRPr>
            </a:pPr>
            <a:r>
              <a:rPr sz="1200" b="1">
                <a:solidFill>
                  <a:srgbClr val="1F6F68"/>
                </a:solidFill>
              </a:rPr>
              <a:t>Teaching move: Review the Medication Administration Record and query for the missing clinical condition.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FB338-EC76-49A6-82F7-3DA40202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3352800" cy="29718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6E7B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3A730-033A-4250-A1A6-079D43B3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Operative-pathology conflict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85C398-3C59-4CA1-B772-8743CEAD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6225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The surgeon documents one diagnosis in the operative report, but the pathology report points to a different tissue diagnosis.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8350E-FC9E-49DA-86E1-504A281F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910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8"/>
                </a:solidFill>
              </a:defRPr>
            </a:pPr>
            <a:r>
              <a:rPr sz="1200" b="1">
                <a:solidFill>
                  <a:srgbClr val="1F6F68"/>
                </a:solidFill>
              </a:rPr>
              <a:t>Teaching move: Do not choose a side. Query the attending physician to resolve the conflict.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B4893-2071-45ED-A495-9815EF49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2781300" cy="297180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C09FB-0456-4BE9-B034-0EE731BA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Copied discharge 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63689-35EB-40C0-8455-8A50B7D1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2438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The discharge summary looks polished, but it repeats a diagnosis that earlier progress notes no longer support.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53DACD-A93F-4A2D-BBE2-E5B2036A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910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8"/>
                </a:solidFill>
              </a:defRPr>
            </a:pPr>
            <a:r>
              <a:rPr sz="1200" b="1">
                <a:solidFill>
                  <a:srgbClr val="1F6F68"/>
                </a:solidFill>
              </a:rPr>
              <a:t>Teaching move: Teach trainees to trust the full record, not the last tidy note.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8EF40-18FD-49B5-AB42-57596392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363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C347B0-A98C-442A-A0E7-1DEDB583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34075"/>
            <a:ext cx="988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Best teaching cases are the ones where treatment, testing, and diagnosis do not yet tell the same story.</a:t>
            </a:r>
          </a:p>
        </p:txBody>
      </p:sp>
    </p:spTree>
    <p:extLst>
      <p:ext uri="{BB962C8B-B14F-4D97-AF65-F5344CB8AC3E}">
        <p14:creationId xmlns:p14="http://schemas.microsoft.com/office/powerpoint/2010/main" val="16537097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A30EEC-BB1E-4DB1-AD76-C26CD47C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01DA5-A5E5-47C1-ACE2-8BA3BD35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C4DC44-212D-437E-88BE-64E6888B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68"/>
                </a:solidFill>
              </a:defRPr>
            </a:pPr>
            <a:r>
              <a:rPr sz="1350" b="1">
                <a:solidFill>
                  <a:srgbClr val="1F6F68"/>
                </a:solidFill>
              </a:rPr>
              <a:t>Fundamentals of CDI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10C39-EDB9-4715-9590-AB893D5A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3405E"/>
                </a:solidFill>
              </a:defRPr>
            </a:pPr>
            <a:r>
              <a:rPr sz="2850" b="1">
                <a:solidFill>
                  <a:srgbClr val="23405E"/>
                </a:solidFill>
              </a:rPr>
              <a:t>How documentation becomes coded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334B1-8114-41E6-8F20-D92611E2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481"/>
                </a:solidFill>
              </a:defRPr>
            </a:pPr>
            <a:r>
              <a:rPr sz="1350" b="0">
                <a:solidFill>
                  <a:srgbClr val="617481"/>
                </a:solidFill>
              </a:rPr>
              <a:t>Coding is a translation process: the record is reviewed, interpreted by rule, and converted into a uniform data set.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6CD63-ED8D-44B1-BA0C-07B7E035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532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F6F68"/>
                </a:solidFill>
              </a:defRPr>
            </a:pPr>
            <a:r>
              <a:rPr sz="900" b="0">
                <a:solidFill>
                  <a:srgbClr val="1F6F68"/>
                </a:solidFill>
              </a:rPr>
              <a:t>Clinical documentation 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8A518-E67C-4076-99F4-31D89CB3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8DD3C-4701-433D-AEDF-4A2C9313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866900" cy="20383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4F2E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7EA66-C04A-4637-9586-CE13B38E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C11FD-75EB-43F1-B085-E5B101B9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14575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Start broad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62E65-2078-4D32-B3E1-43967B93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52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Review the face sheet, admission story, and major demographic or stay data.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32470-C423-4445-A781-5139098F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71700"/>
            <a:ext cx="1866900" cy="20383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6E7B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E7199-1CD4-4731-9843-EDF8494F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05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02F12-940D-4B2D-A649-D26DFC26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14575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Read the 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3D55E4-9909-4FE9-8B05-D7196AF5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38450"/>
            <a:ext cx="152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Progress notes, diagnostic results, surgical forms, and the Medication Administration Record fill in what actually happened.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41E28-CFA9-47E6-9D79-C03C3CF44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71700"/>
            <a:ext cx="1866900" cy="20383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BDBE4-190A-4FF9-9AB3-F7B09381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05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8A91E-6AF7-483B-AE9F-9E13A0E7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14575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Match the 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AF53D-804F-4780-B239-EBB6E7DD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38450"/>
            <a:ext cx="152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Diagnoses should align with tests, treatment, procedures, and response over time.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239055-4C1F-474E-B986-F3D5A720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71700"/>
            <a:ext cx="1866900" cy="20383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7DCD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23A43-EC76-4490-951F-EA4077D9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05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A4477-7140-400C-850A-099B228A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14575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Apply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154D67-28BF-46DB-910C-D7C2D789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38450"/>
            <a:ext cx="152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Coding guidelines determine which diagnoses and procedures are reportable.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F4513B-C0B3-4039-9735-877CC0FE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71700"/>
            <a:ext cx="1866900" cy="20383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9E2F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31A3FA-0BBE-41FD-B536-AF9E1272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050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4C1AB0-B880-431D-8426-96C93644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14575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Create 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013C1D-6767-4ABF-BECE-156CBBC0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38450"/>
            <a:ext cx="152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The final coded set becomes usable for reimbursement, quality reporting, and research.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6A0ED3-30F8-4B7C-B657-60477177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2489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905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143C31-D6D5-4228-9DCC-E0F48835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43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405E"/>
                </a:solidFill>
              </a:defRPr>
            </a:pPr>
            <a:r>
              <a:rPr sz="1800" b="1">
                <a:solidFill>
                  <a:srgbClr val="23405E"/>
                </a:solidFill>
              </a:rPr>
              <a:t>Non-negotiable rule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644797-795B-43DF-8D28-120CEA5E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05400"/>
            <a:ext cx="958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A3B47"/>
                </a:solidFill>
              </a:defRPr>
            </a:pPr>
            <a:r>
              <a:rPr sz="1350" b="0">
                <a:solidFill>
                  <a:srgbClr val="2A3B47"/>
                </a:solidFill>
              </a:rPr>
              <a:t>Coding professionals do not guess diagnoses from treatment or tests alone. The documentation must contain a clinically supportable diagnosis statement that can survive review.</a:t>
            </a:r>
          </a:p>
        </p:txBody>
      </p:sp>
    </p:spTree>
    <p:extLst>
      <p:ext uri="{BB962C8B-B14F-4D97-AF65-F5344CB8AC3E}">
        <p14:creationId xmlns:p14="http://schemas.microsoft.com/office/powerpoint/2010/main" val="3383284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C2A249-A0FD-455D-8076-F5958F72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779716-8B02-462A-979A-A226793B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8B546-31BB-4100-86E7-62ECD2FA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68"/>
                </a:solidFill>
              </a:defRPr>
            </a:pPr>
            <a:r>
              <a:rPr sz="1350" b="1">
                <a:solidFill>
                  <a:srgbClr val="1F6F68"/>
                </a:solidFill>
              </a:rPr>
              <a:t>Fundamentals of CDI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3E3F6-6ECE-4ACD-B204-ABD72615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3405E"/>
                </a:solidFill>
              </a:defRPr>
            </a:pPr>
            <a:r>
              <a:rPr sz="2850" b="1">
                <a:solidFill>
                  <a:srgbClr val="23405E"/>
                </a:solidFill>
              </a:rPr>
              <a:t>Principal and secondary diagnoses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78DC2-EFB3-45F1-96E7-11FFC1E1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481"/>
                </a:solidFill>
              </a:defRPr>
            </a:pPr>
            <a:r>
              <a:rPr sz="1350" b="0">
                <a:solidFill>
                  <a:srgbClr val="617481"/>
                </a:solidFill>
              </a:rPr>
              <a:t>The record becomes stronger when the diagnoses explain why the patient came, what mattered, and why care was delivered.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B08FF-771E-43CA-BD1F-38439549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532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F6F68"/>
                </a:solidFill>
              </a:defRPr>
            </a:pPr>
            <a:r>
              <a:rPr sz="900" b="0">
                <a:solidFill>
                  <a:srgbClr val="1F6F68"/>
                </a:solidFill>
              </a:rPr>
              <a:t>Clinical documentation 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D107F-D235-481F-A0FC-1CAA9C0C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0A350-626D-4EDE-823C-ECEC0448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53000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3A448-2ADE-4A16-8E97-5E06F9EE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53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A33F9-7180-45D8-992D-B0BF4DCA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405E"/>
                </a:solidFill>
              </a:defRPr>
            </a:pPr>
            <a:r>
              <a:rPr sz="1800" b="1">
                <a:solidFill>
                  <a:srgbClr val="23405E"/>
                </a:solidFill>
              </a:rPr>
              <a:t>Core definitions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57914D-9966-47F3-A712-910EF75B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43434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A3B47"/>
                </a:solidFill>
              </a:defRPr>
            </a:pPr>
            <a:r>
              <a:rPr sz="1275">
                <a:solidFill>
                  <a:srgbClr val="2A3B47"/>
                </a:solidFill>
              </a:rPr>
              <a:t>Principal diagnosis: the condition established after study to be chiefly responsible for the admission.</a:t>
            </a:r>
          </a:p>
          <a:p xmlns:a="http://schemas.openxmlformats.org/drawingml/2006/main">
            <a:pPr>
              <a:defRPr sz="1275">
                <a:solidFill>
                  <a:srgbClr val="2A3B47"/>
                </a:solidFill>
              </a:defRPr>
            </a:pPr>
            <a:r>
              <a:rPr sz="1275">
                <a:solidFill>
                  <a:srgbClr val="2A3B47"/>
                </a:solidFill>
              </a:rPr>
              <a:t>Secondary diagnoses: conditions present at admission, developing later, or affecting treatment, resources, or length of stay.</a:t>
            </a:r>
          </a:p>
          <a:p xmlns:a="http://schemas.openxmlformats.org/drawingml/2006/main">
            <a:pPr>
              <a:defRPr sz="1275">
                <a:solidFill>
                  <a:srgbClr val="2A3B47"/>
                </a:solidFill>
              </a:defRPr>
            </a:pPr>
            <a:r>
              <a:rPr sz="1275">
                <a:solidFill>
                  <a:srgbClr val="2A3B47"/>
                </a:solidFill>
              </a:rPr>
              <a:t>A strong chart explains both the reason for admission and the conditions that materially shaped the stay.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BB1F3-97BC-488C-B67D-14489A3D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14550"/>
            <a:ext cx="4991100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57EAE-4502-4A39-97EF-0FB35CC1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14550"/>
            <a:ext cx="49911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7B4"/>
          </a:solidFill>
          <a:ln xmlns:a="http://schemas.openxmlformats.org/drawingml/2006/main" w="0">
            <a:solidFill>
              <a:srgbClr val="F6E7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49631B-D271-46E6-928A-0E76BDF0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622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405E"/>
                </a:solidFill>
              </a:defRPr>
            </a:pPr>
            <a:r>
              <a:rPr sz="1800" b="1">
                <a:solidFill>
                  <a:srgbClr val="23405E"/>
                </a:solidFill>
              </a:rPr>
              <a:t>Closing-the-loop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257B3-534D-4875-AB71-3F8C3ACA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4381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A3B47"/>
                </a:solidFill>
              </a:defRPr>
            </a:pPr>
            <a:r>
              <a:rPr sz="1275">
                <a:solidFill>
                  <a:srgbClr val="2A3B47"/>
                </a:solidFill>
              </a:rPr>
              <a:t>If surgery is documented, the operative report should be present.</a:t>
            </a:r>
          </a:p>
          <a:p xmlns:a="http://schemas.openxmlformats.org/drawingml/2006/main">
            <a:pPr>
              <a:defRPr sz="1275">
                <a:solidFill>
                  <a:srgbClr val="2A3B47"/>
                </a:solidFill>
              </a:defRPr>
            </a:pPr>
            <a:r>
              <a:rPr sz="1275">
                <a:solidFill>
                  <a:srgbClr val="2A3B47"/>
                </a:solidFill>
              </a:rPr>
              <a:t>If a diagnosis is documented, the chart should show indicators, evaluation, or treatment that make sense.</a:t>
            </a:r>
          </a:p>
          <a:p xmlns:a="http://schemas.openxmlformats.org/drawingml/2006/main">
            <a:pPr>
              <a:defRPr sz="1275">
                <a:solidFill>
                  <a:srgbClr val="2A3B47"/>
                </a:solidFill>
              </a:defRPr>
            </a:pPr>
            <a:r>
              <a:rPr sz="1275">
                <a:solidFill>
                  <a:srgbClr val="2A3B47"/>
                </a:solidFill>
              </a:rPr>
              <a:t>If the treatment pattern points to a condition that is never documented, the record is not yet ready to become final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0D800-20DC-4FC4-A8BE-FAF7BB5C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4476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82C3E"/>
          </a:solidFill>
          <a:ln xmlns:a="http://schemas.openxmlformats.org/drawingml/2006/main" w="0">
            <a:solidFill>
              <a:srgbClr val="182C3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C72805-48DA-4C8B-88D3-88758B9A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401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question: what condition, after study, best explains the admission?</a:t>
            </a:r>
          </a:p>
        </p:txBody>
      </p:sp>
    </p:spTree>
    <p:extLst>
      <p:ext uri="{BB962C8B-B14F-4D97-AF65-F5344CB8AC3E}">
        <p14:creationId xmlns:p14="http://schemas.microsoft.com/office/powerpoint/2010/main" val="5882746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014058-6AA4-43B7-99AA-C75CCE29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707F5-AA4F-4C2D-9AE0-DA8A3858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845E7-614E-486E-9A1C-5F13D40C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68"/>
                </a:solidFill>
              </a:defRPr>
            </a:pPr>
            <a:r>
              <a:rPr sz="1350" b="1">
                <a:solidFill>
                  <a:srgbClr val="1F6F68"/>
                </a:solidFill>
              </a:rPr>
              <a:t>Fundamentals of CDI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914E32-579D-47F6-9DCA-95847A61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3405E"/>
                </a:solidFill>
              </a:defRPr>
            </a:pPr>
            <a:r>
              <a:rPr sz="2850" b="1">
                <a:solidFill>
                  <a:srgbClr val="23405E"/>
                </a:solidFill>
              </a:rPr>
              <a:t>Severity, POA, and reimbursement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02B2C-D298-4FD0-8911-15BA789DB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481"/>
                </a:solidFill>
              </a:defRPr>
            </a:pPr>
            <a:r>
              <a:rPr sz="1350" b="0">
                <a:solidFill>
                  <a:srgbClr val="617481"/>
                </a:solidFill>
              </a:rPr>
              <a:t>Documentation quality determines whether severity-based systems reflect the real complexity of the stay.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B490E-86B5-49BB-8E61-0EE5032E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532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F6F68"/>
                </a:solidFill>
              </a:defRPr>
            </a:pPr>
            <a:r>
              <a:rPr sz="900" b="0">
                <a:solidFill>
                  <a:srgbClr val="1F6F68"/>
                </a:solidFill>
              </a:rPr>
              <a:t>Clinical documentation 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E0EE7C-E055-410B-9F7B-A886EC8F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6D81A-E274-4115-9920-918CB51B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57175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58F86-F6FB-457F-B481-07103A68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68"/>
                </a:solidFill>
              </a:defRPr>
            </a:pPr>
            <a:r>
              <a:rPr sz="1275" b="1">
                <a:solidFill>
                  <a:srgbClr val="1F6F68"/>
                </a:solidFill>
              </a:rPr>
              <a:t>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D93B0-CC24-4EF4-841E-9F889069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38350"/>
            <a:ext cx="266700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CF7E2A-1282-4EA2-A7B2-629E84C2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33600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68"/>
                </a:solidFill>
              </a:defRPr>
            </a:pPr>
            <a:r>
              <a:rPr sz="1275" b="1">
                <a:solidFill>
                  <a:srgbClr val="1F6F68"/>
                </a:solidFill>
              </a:rPr>
              <a:t>Expanded 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D901CF-79EF-4EDE-8062-258AD0AA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38350"/>
            <a:ext cx="5581650" cy="4191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FDEC2-3C88-40B6-B236-584C1DFC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33600"/>
            <a:ext cx="535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F6F68"/>
                </a:solidFill>
              </a:defRPr>
            </a:pPr>
            <a:r>
              <a:rPr sz="1275" b="1">
                <a:solidFill>
                  <a:srgbClr val="1F6F68"/>
                </a:solidFill>
              </a:rPr>
              <a:t>Teaching relevance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E162D-DE86-42CE-B762-01B91603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571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4F2EE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90D412-AA7A-43FC-BDEE-47EE218D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2343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Severity-based Diagnosis-Related Groups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71BEA-092D-410F-8FF1-89B3C1FF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57450"/>
            <a:ext cx="266700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4F2EE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6CA558-9E7C-4F69-A26E-5FBA1727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5270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Major Severity Diagnosis-Related Groups and All Patient Refined Diagnosis-Related Groups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C81B8F-0FBE-414B-848F-AE07AF53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57450"/>
            <a:ext cx="55816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4F2EE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5F00C9-D567-4FA0-8E32-98C771A5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52700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These systems act as an equalizer for prospective inpatient reimbursement, but only when documentation captures real complexity.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049DF-1C79-46C2-AEA1-A5E0BE84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57175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6E7B4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3D2286-1DD2-4CB0-864C-1D6301E2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Complications or Comorbidities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8BBC3F-F96D-4AD6-8A7B-DD8C91EA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86100"/>
            <a:ext cx="266700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6E7B4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FC59D-365E-4AD8-995B-134ED6BE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CCs and Major CCs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C0A2AE-1CC3-4D82-800E-035D9BBE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86100"/>
            <a:ext cx="558165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6E7B4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29E5C6-7535-4D8C-ADD8-5DA7B6D7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81350"/>
            <a:ext cx="535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Capturing these accurately depends on documentation that is specific, clinically supported, and complete.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496DC8-1EAB-425B-87D7-667BAEB3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57175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8535AC-3BE5-47FA-9791-B4DFE9E5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Present on Admission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02CF16-8551-41E5-AFDD-745451CD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57600"/>
            <a:ext cx="266700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60DD40-F280-47B7-B721-D036BA99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52850"/>
            <a:ext cx="2438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POA 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635260-6250-4CD4-A23E-4670133E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57600"/>
            <a:ext cx="5581650" cy="57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AC5867-A539-4DC9-AECA-2AB5B951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52850"/>
            <a:ext cx="5353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Hospitals must distinguish conditions present on arrival from those that developed later in the stay.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CDB2D8-F893-4650-B9C3-89C0177C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2571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DCD1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254AA8-0C8C-4B9E-908F-E2097ED0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2343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Hospital-Acquired Conditions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0B1AEC-8B47-41C7-BE18-74CF978D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229100"/>
            <a:ext cx="266700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DCD1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8AFE30-7A31-4EC5-B387-A348CD27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2435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HACs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F14608-6AB9-4FB8-A532-F9FF1D03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29100"/>
            <a:ext cx="55816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7DCD1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9E17B0-794A-48E1-87F9-4662DDC1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324350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POA reporting protects the integrity of severity, resource use, and quality indicators by showing what was not acquired in the hospital.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AA7F8C-0E30-4EFB-80D2-0ECC4FE3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5717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9E2F4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9BBC6B7-AECF-4042-9FF4-AA9C0E4D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2343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Outpatient coding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44131D-E904-45E5-A816-F7F9AAC6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57750"/>
            <a:ext cx="266700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9E2F4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BAB58A-7C19-454B-B1C9-82906CAA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53000"/>
            <a:ext cx="2438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Different site-of-service and procedure logic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269A8B-27B9-4D97-AD2E-F30AEDD6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57750"/>
            <a:ext cx="5581650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9E2F4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FC2E7E-308F-4646-BAA6-5A02FAD09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53000"/>
            <a:ext cx="535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Outpatient work depends on medical necessity, Current Procedural Terminology and Healthcare Common Procedure Coding System logic, and chargemaster awareness.</a:t>
            </a:r>
          </a:p>
        </p:txBody>
      </p:sp>
    </p:spTree>
    <p:extLst>
      <p:ext uri="{BB962C8B-B14F-4D97-AF65-F5344CB8AC3E}">
        <p14:creationId xmlns:p14="http://schemas.microsoft.com/office/powerpoint/2010/main" val="12869089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B70B6C-8BA0-4B28-B3A0-2DFF3ED2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3F808-C234-4526-AD82-DC024F5A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0AC19-FCC4-452C-B55E-01DD0FE0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68"/>
                </a:solidFill>
              </a:defRPr>
            </a:pPr>
            <a:r>
              <a:rPr sz="1350" b="1">
                <a:solidFill>
                  <a:srgbClr val="1F6F68"/>
                </a:solidFill>
              </a:rPr>
              <a:t>Fundamentals of CDI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5852A-CF90-4159-983C-B5A58B56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3405E"/>
                </a:solidFill>
              </a:defRPr>
            </a:pPr>
            <a:r>
              <a:rPr sz="2850" b="1">
                <a:solidFill>
                  <a:srgbClr val="23405E"/>
                </a:solidFill>
              </a:rPr>
              <a:t>When clarification becomes necessary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67F095-00AD-45C8-8D87-0EC36302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481"/>
                </a:solidFill>
              </a:defRPr>
            </a:pPr>
            <a:r>
              <a:rPr sz="1350" b="0">
                <a:solidFill>
                  <a:srgbClr val="617481"/>
                </a:solidFill>
              </a:rPr>
              <a:t>Queries are triggered by evidence in the chart, not by guesswork or preference.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3DB23-1CB5-4944-BE6A-A2DADB53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532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F6F68"/>
                </a:solidFill>
              </a:defRPr>
            </a:pPr>
            <a:r>
              <a:rPr sz="900" b="0">
                <a:solidFill>
                  <a:srgbClr val="1F6F68"/>
                </a:solidFill>
              </a:rPr>
              <a:t>Clinical documentation 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A5ACC-3BAC-4DD9-BDC1-6997A029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3F911-8855-4DDB-95C7-BC5A184E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003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4F2E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00F9B-F6CE-4EFE-9E9C-67A2C7E7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E6897-D89C-4C3D-890C-DB1A1067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76475"/>
            <a:ext cx="1695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Spot the 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E7686-BFD9-4F25-A442-95F1F66E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2057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Conflicting, incomplete, ambiguous, imprecise, or clinically unsupported documentation should immediately raise concern.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7B234-8F1F-4802-B445-C3D3D2E8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33600"/>
            <a:ext cx="24003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6E7B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B5FA4-B71A-479F-8E17-7CF0822A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7C179-E7AB-4032-A730-E493073F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76475"/>
            <a:ext cx="1695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Validate the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46AF3-C1AB-41F0-9D20-C471D83B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0350"/>
            <a:ext cx="2057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Compare the diagnosis against indicators, treatment, procedures, diagnostic results, and response.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8ABAE-B89D-47C0-8D16-CFDF28561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33600"/>
            <a:ext cx="24003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EEAB8-56E0-48F1-BB2E-6FC0BD44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46E117-9486-4BD8-83FD-B753BCAB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76475"/>
            <a:ext cx="1695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Ask the right 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A0E8C-83F1-4C5A-A00C-13354374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0350"/>
            <a:ext cx="2057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If documentation conflicts, the attending physician is the tiebreaker who must resolve the record.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AD9DB7-64D0-4BE5-89DB-9E4793E1F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33600"/>
            <a:ext cx="2362200" cy="156210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7DCD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484D4B-4160-40D6-A8B3-E6DF4C08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669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528F5-11F3-4984-BA97-D4322CC3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76475"/>
            <a:ext cx="1657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Prefer speed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5E3898-5A9F-44CD-9C39-09E376A5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00350"/>
            <a:ext cx="2019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Concurrent queries, while the patient is still in-house, are ideal. Retrospective queries are the safety net.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D8C910-E1BD-40F2-9262-F6D808D8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632460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EC787A-48C4-4CF6-8B6F-E3F44FF5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6324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1851EE-5F28-4578-887A-3D4406EE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2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405E"/>
                </a:solidFill>
              </a:defRPr>
            </a:pPr>
            <a:r>
              <a:rPr sz="1800" b="1">
                <a:solidFill>
                  <a:srgbClr val="23405E"/>
                </a:solidFill>
              </a:rPr>
              <a:t>Query triggers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E46AC2-4465-422E-A7AB-48189D3A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5676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A3B47"/>
                </a:solidFill>
              </a:defRPr>
            </a:pPr>
            <a:r>
              <a:rPr sz="1275">
                <a:solidFill>
                  <a:srgbClr val="2A3B47"/>
                </a:solidFill>
              </a:rPr>
              <a:t>Clinical indicators without a definite diagnosis</a:t>
            </a:r>
          </a:p>
          <a:p xmlns:a="http://schemas.openxmlformats.org/drawingml/2006/main">
            <a:pPr>
              <a:defRPr sz="1275">
                <a:solidFill>
                  <a:srgbClr val="2A3B47"/>
                </a:solidFill>
              </a:defRPr>
            </a:pPr>
            <a:r>
              <a:rPr sz="1275">
                <a:solidFill>
                  <a:srgbClr val="2A3B47"/>
                </a:solidFill>
              </a:rPr>
              <a:t>Treatment or workup unrelated to the documented diagnosis</a:t>
            </a:r>
          </a:p>
          <a:p xmlns:a="http://schemas.openxmlformats.org/drawingml/2006/main">
            <a:pPr>
              <a:defRPr sz="1275">
                <a:solidFill>
                  <a:srgbClr val="2A3B47"/>
                </a:solidFill>
              </a:defRPr>
            </a:pPr>
            <a:r>
              <a:rPr sz="1275">
                <a:solidFill>
                  <a:srgbClr val="2A3B47"/>
                </a:solidFill>
              </a:rPr>
              <a:t>Diagnosis documented without enough clinical validation</a:t>
            </a:r>
          </a:p>
          <a:p xmlns:a="http://schemas.openxmlformats.org/drawingml/2006/main">
            <a:pPr>
              <a:defRPr sz="1275">
                <a:solidFill>
                  <a:srgbClr val="2A3B47"/>
                </a:solidFill>
              </a:defRPr>
            </a:pPr>
            <a:r>
              <a:rPr sz="1275">
                <a:solidFill>
                  <a:srgbClr val="2A3B47"/>
                </a:solidFill>
              </a:rPr>
              <a:t>Unclear Present on Admission status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8BA0DC-1FC7-4F4A-B842-D7B7D6DCC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76700"/>
            <a:ext cx="3581400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182C3E"/>
          </a:solidFill>
          <a:ln xmlns:a="http://schemas.openxmlformats.org/drawingml/2006/main" w="0">
            <a:solidFill>
              <a:srgbClr val="182C3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A4C009-3FA8-4660-B5BA-F5D820A8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481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E7B4"/>
                </a:solidFill>
              </a:defRPr>
            </a:pPr>
            <a:r>
              <a:rPr sz="1350" b="1">
                <a:solidFill>
                  <a:srgbClr val="F6E7B4"/>
                </a:solidFill>
              </a:rPr>
              <a:t>POLL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3F4073-260A-4EE7-BE06-5B5582C5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72000"/>
            <a:ext cx="3162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If the consultant and primary physician disagree, who resolves the final diagnosis story?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677723-D8EC-4A2C-B057-DC2BBD38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06730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solidFill>
              <a:srgbClr val="FFFFF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C84DA9-E97D-4F5D-B457-834E362A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1435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Coder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2D57D3-7D74-4E65-8D1D-B37E09B4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6730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solidFill>
              <a:srgbClr val="FFFFF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93C905-B129-44DE-A247-C662D486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1435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Attending physician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DCAE56-BDEE-469E-9053-1BE113A9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6735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solidFill>
              <a:srgbClr val="FFFFF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393390-8E8B-43CD-B06A-578F35B3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435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Radiologist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5BB12A-9C92-49B6-95E9-238BE91D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467350"/>
            <a:ext cx="13906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12000"/>
            </a:srgbClr>
          </a:solidFill>
          <a:ln xmlns:a="http://schemas.openxmlformats.org/drawingml/2006/main" w="0">
            <a:solidFill>
              <a:srgbClr val="FFFFF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0BFCE6-F429-433F-AA5B-03E249A8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5435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Pathologist</a:t>
            </a:r>
          </a:p>
        </p:txBody>
      </p:sp>
    </p:spTree>
    <p:extLst>
      <p:ext uri="{BB962C8B-B14F-4D97-AF65-F5344CB8AC3E}">
        <p14:creationId xmlns:p14="http://schemas.microsoft.com/office/powerpoint/2010/main" val="20078851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428A41-91A0-45E6-9364-954B2C92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13B1E-F6EC-44B7-B566-8D550B62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2CDF8-2B1A-42C8-8802-CF66FA4D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68"/>
                </a:solidFill>
              </a:defRPr>
            </a:pPr>
            <a:r>
              <a:rPr sz="1350" b="1">
                <a:solidFill>
                  <a:srgbClr val="1F6F68"/>
                </a:solidFill>
              </a:rPr>
              <a:t>Fundamentals of CDI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D0ED9-B2B7-4E09-9172-E315CBC5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3405E"/>
                </a:solidFill>
              </a:defRPr>
            </a:pPr>
            <a:r>
              <a:rPr sz="2850" b="1">
                <a:solidFill>
                  <a:srgbClr val="23405E"/>
                </a:solidFill>
              </a:rPr>
              <a:t>Classroom application: quick judgment cases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A50F5-D785-47DF-A160-8225FD15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481"/>
                </a:solidFill>
              </a:defRPr>
            </a:pPr>
            <a:r>
              <a:rPr sz="1350" b="0">
                <a:solidFill>
                  <a:srgbClr val="617481"/>
                </a:solidFill>
              </a:rPr>
              <a:t>Use these short cases to make trainees explain what they see, what is missing, and what action follows.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DDCF5-FFE3-4C85-ADBF-32E9CBDF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532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F6F68"/>
                </a:solidFill>
              </a:defRPr>
            </a:pPr>
            <a:r>
              <a:rPr sz="900" b="0">
                <a:solidFill>
                  <a:srgbClr val="1F6F68"/>
                </a:solidFill>
              </a:rPr>
              <a:t>Clinical documentation 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F7F95-0AFF-4D5C-902A-7CE599B5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E1B97-FC08-4C4C-8316-A6E27B43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352800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E4F2E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6FFEA1-5CF4-4029-BAE1-F90656B9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Case 1: abnormal labs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D7F6E9-1BFB-464A-9916-AA51BC5B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Multiple electrolyte abnormalities are recorded and treated, but the physician never documents the diagnosis or meaning.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ACCE6-D5F6-40B3-A304-18C4D973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8"/>
                </a:solidFill>
              </a:defRPr>
            </a:pPr>
            <a:r>
              <a:rPr sz="1200" b="1">
                <a:solidFill>
                  <a:srgbClr val="1F6F68"/>
                </a:solidFill>
              </a:rPr>
              <a:t>Teaching move: Do not code from lab values alone. Seek physician interpretation.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A11ED-0754-4B53-97AE-6433C86F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3352800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6E7B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F62BB0-C3C9-461B-B53B-466A105A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66950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Case 2: diagnosis-treatment mismatch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50780-9FD5-4439-B6C0-302F11E8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62250"/>
            <a:ext cx="3009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The chart says Chronic Obstructive Pulmonary Disease, but treatment and monitoring strongly resemble congestive heart failure management.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89381E-0887-43F3-8CB2-D05109F2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10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8"/>
                </a:solidFill>
              </a:defRPr>
            </a:pPr>
            <a:r>
              <a:rPr sz="1200" b="1">
                <a:solidFill>
                  <a:srgbClr val="1F6F68"/>
                </a:solidFill>
              </a:rPr>
              <a:t>Teaching move: Review reliability. Ask whether the diagnosis list truly supports what was done.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FA6CB-841F-4A06-A9E7-7526D28E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14550"/>
            <a:ext cx="2781300" cy="29908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BC7FE1-B408-4529-A390-06EE165C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Case 3: source conflict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BD3E38-A18F-44FA-98D3-86FC5F33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0"/>
            <a:ext cx="24384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The pathologist and surgeon appear to tell different stories, and the discharge summary repeats only one version.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771D56-152A-4DAD-9EA1-5C696AF7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101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F6F68"/>
                </a:solidFill>
              </a:defRPr>
            </a:pPr>
            <a:r>
              <a:rPr sz="1200" b="1">
                <a:solidFill>
                  <a:srgbClr val="1F6F68"/>
                </a:solidFill>
              </a:rPr>
              <a:t>Teaching move: Escalate to attending clarification before the coded story is finalized.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703D06-D3EA-4950-BEEF-E6D752D6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3632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21AC0D-E915-420A-A188-191D72DF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34075"/>
            <a:ext cx="988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Ask trainees to identify the criterion at risk first, then the likely CDI action second.</a:t>
            </a:r>
          </a:p>
        </p:txBody>
      </p:sp>
    </p:spTree>
    <p:extLst>
      <p:ext uri="{BB962C8B-B14F-4D97-AF65-F5344CB8AC3E}">
        <p14:creationId xmlns:p14="http://schemas.microsoft.com/office/powerpoint/2010/main" val="20810651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6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68B8DF-AB0E-4D7E-82C7-81756447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56325-6252-4A48-BE6F-5B2DCE29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7EEEA"/>
          </a:solidFill>
          <a:ln xmlns:a="http://schemas.openxmlformats.org/drawingml/2006/main" w="0">
            <a:solidFill>
              <a:srgbClr val="D7EE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0C7C3-E6E7-4BE0-B801-2631715F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F6F68"/>
                </a:solidFill>
              </a:defRPr>
            </a:pPr>
            <a:r>
              <a:rPr sz="1350" b="1">
                <a:solidFill>
                  <a:srgbClr val="1F6F68"/>
                </a:solidFill>
              </a:rPr>
              <a:t>Fundamentals of CDI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8C338-47D3-4A5B-9636-FC9930A6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3405E"/>
                </a:solidFill>
              </a:defRPr>
            </a:pPr>
            <a:r>
              <a:rPr sz="2850" b="1">
                <a:solidFill>
                  <a:srgbClr val="23405E"/>
                </a:solidFill>
              </a:rPr>
              <a:t>Key teaching messages to reinforce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F56DE-01FD-462D-8B97-D876B8C9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481"/>
                </a:solidFill>
              </a:defRPr>
            </a:pPr>
            <a:r>
              <a:rPr sz="1350" b="0">
                <a:solidFill>
                  <a:srgbClr val="617481"/>
                </a:solidFill>
              </a:rPr>
              <a:t>End the session with a few memorable rules trainees can apply immediately.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75F77-78B9-4EDF-B04D-A0B6CE943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5532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1F6F68"/>
                </a:solidFill>
              </a:defRPr>
            </a:pPr>
            <a:r>
              <a:rPr sz="900" b="0">
                <a:solidFill>
                  <a:srgbClr val="1F6F68"/>
                </a:solidFill>
              </a:rPr>
              <a:t>Clinical documentation 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52313-13F6-4A30-8685-36394821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27872-936B-4F7B-9DE8-ECA6F24D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765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4F2EE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DC92D-0E63-491C-8F76-09D6878E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32EFA-910B-487B-829F-96DE2078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38375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One standard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55BAA-A86D-43C4-934D-E9B181E6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Use the same quality lens for every entry, not just physician notes you happen to trust.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6C5C2-8A42-4810-A4A8-436608B7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24765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E7B4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AB313-DFC7-4958-A96B-D69F2681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28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55A5E-DC46-4DB7-A8D4-C6874F35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238375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One 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CF564-E703-4081-B6AE-5B3FD52B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622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A usable chart tells one clinically supportable story across time, providers, tests, and treatment.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0F1A6-9D71-488C-BBDB-49E54A4A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95500"/>
            <a:ext cx="24765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9F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3E205-65BC-4E6F-AA92-615546B7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F1BD1B-4602-475E-BEF2-4A5DF60E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38375"/>
            <a:ext cx="1771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One rule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FC714-3506-44C8-B84C-3CBD5B8C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213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Treatments and test results can support a diagnosis, but they do not replace documented physician meaning.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318728-96C9-4CB9-BD07-1495512F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22479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7DCD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FECA09-88C8-477A-A180-4DF7F41A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2885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405E"/>
          </a:solidFill>
          <a:ln xmlns:a="http://schemas.openxmlformats.org/drawingml/2006/main" w="0">
            <a:solidFill>
              <a:srgbClr val="2340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DB0094-F473-4E8F-9861-885E0621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405E"/>
                </a:solidFill>
              </a:defRPr>
            </a:pPr>
            <a:r>
              <a:rPr sz="1350" b="1">
                <a:solidFill>
                  <a:srgbClr val="23405E"/>
                </a:solidFill>
              </a:rPr>
              <a:t>One exception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2483C-A26E-45DA-BA24-AB280CF6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A3B47"/>
                </a:solidFill>
              </a:defRPr>
            </a:pPr>
            <a:r>
              <a:rPr sz="1200" b="0">
                <a:solidFill>
                  <a:srgbClr val="2A3B47"/>
                </a:solidFill>
              </a:rPr>
              <a:t>Timeliness is the only criterion that cannot be repaired after the fact.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B69BB5-4FDC-41AD-A359-02F2D2D4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80060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67C53B-A4FB-4340-B4B5-D71E9345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800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DAEA4"/>
          </a:solidFill>
          <a:ln xmlns:a="http://schemas.openxmlformats.org/drawingml/2006/main" w="0">
            <a:solidFill>
              <a:srgbClr val="5DAEA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AE4696-ABC1-4F9E-8101-BA9E023B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405E"/>
                </a:solidFill>
              </a:defRPr>
            </a:pPr>
            <a:r>
              <a:rPr sz="1800" b="1">
                <a:solidFill>
                  <a:srgbClr val="23405E"/>
                </a:solidFill>
              </a:rPr>
              <a:t>Discussion prompts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7168F9-EAC5-4CA5-A947-0EBA7A92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24400"/>
            <a:ext cx="4152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2A3B47"/>
                </a:solidFill>
              </a:defRPr>
            </a:pPr>
            <a:r>
              <a:rPr sz="1275">
                <a:solidFill>
                  <a:srgbClr val="2A3B47"/>
                </a:solidFill>
              </a:rPr>
              <a:t>Where do you most often see orphan treatments?</a:t>
            </a:r>
          </a:p>
          <a:p xmlns:a="http://schemas.openxmlformats.org/drawingml/2006/main">
            <a:pPr>
              <a:defRPr sz="1275">
                <a:solidFill>
                  <a:srgbClr val="2A3B47"/>
                </a:solidFill>
              </a:defRPr>
            </a:pPr>
            <a:r>
              <a:rPr sz="1275">
                <a:solidFill>
                  <a:srgbClr val="2A3B47"/>
                </a:solidFill>
              </a:rPr>
              <a:t>Which document type causes the most confusion in your setting?</a:t>
            </a:r>
          </a:p>
          <a:p xmlns:a="http://schemas.openxmlformats.org/drawingml/2006/main">
            <a:pPr>
              <a:defRPr sz="1275">
                <a:solidFill>
                  <a:srgbClr val="2A3B47"/>
                </a:solidFill>
              </a:defRPr>
            </a:pPr>
            <a:r>
              <a:rPr sz="1275">
                <a:solidFill>
                  <a:srgbClr val="2A3B47"/>
                </a:solidFill>
              </a:rPr>
              <a:t>How fast can your team convert a weak chart into a supportable one?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E697B7-6484-438C-8CD8-9D2D13A6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48100"/>
            <a:ext cx="5086350" cy="179070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31B3F9-FF12-49D4-B8D1-C797F3C6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48100"/>
            <a:ext cx="50863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E7B4"/>
          </a:solidFill>
          <a:ln xmlns:a="http://schemas.openxmlformats.org/drawingml/2006/main" w="0">
            <a:solidFill>
              <a:srgbClr val="F6E7B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557866-78BF-4155-BACF-11359D31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405E"/>
                </a:solidFill>
              </a:defRPr>
            </a:pPr>
            <a:r>
              <a:rPr sz="1800" b="1">
                <a:solidFill>
                  <a:srgbClr val="23405E"/>
                </a:solidFill>
              </a:rPr>
              <a:t>Trainer takeaway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3585F5-0538-4320-8543-E975083F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4514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A3B47"/>
                </a:solidFill>
              </a:defRPr>
            </a:pPr>
            <a:r>
              <a:rPr sz="1350" b="0">
                <a:solidFill>
                  <a:srgbClr val="2A3B47"/>
                </a:solidFill>
              </a:rPr>
              <a:t>This topic becomes much stronger in the classroom when trainees are asked to explain why documentation is weak, which criterion is failing, and what evidence-based clarification would restore the record.</a:t>
            </a:r>
          </a:p>
        </p:txBody>
      </p:sp>
    </p:spTree>
    <p:extLst>
      <p:ext uri="{BB962C8B-B14F-4D97-AF65-F5344CB8AC3E}">
        <p14:creationId xmlns:p14="http://schemas.microsoft.com/office/powerpoint/2010/main" val="13563240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2026-06-22T08:48:23.3000000Z</dcterms:created>
  <dcterms:modified xsi:type="dcterms:W3CDTF">2026-06-22T08:48:23.3000000Z</dcterms:modified>
</coreProperties>
</file>